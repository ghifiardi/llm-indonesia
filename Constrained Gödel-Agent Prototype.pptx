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1" r:id="rId2"/>
    <p:sldId id="275" r:id="rId3"/>
    <p:sldId id="279" r:id="rId4"/>
    <p:sldId id="280" r:id="rId5"/>
    <p:sldId id="281" r:id="rId6"/>
    <p:sldId id="282" r:id="rId7"/>
    <p:sldId id="285" r:id="rId8"/>
    <p:sldId id="286" r:id="rId9"/>
    <p:sldId id="287" r:id="rId10"/>
    <p:sldId id="288" r:id="rId11"/>
    <p:sldId id="289" r:id="rId12"/>
    <p:sldId id="305" r:id="rId13"/>
    <p:sldId id="304" r:id="rId14"/>
    <p:sldId id="29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596"/>
    <p:restoredTop sz="94678"/>
  </p:normalViewPr>
  <p:slideViewPr>
    <p:cSldViewPr snapToGrid="0">
      <p:cViewPr varScale="1">
        <p:scale>
          <a:sx n="87" d="100"/>
          <a:sy n="87" d="100"/>
        </p:scale>
        <p:origin x="224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22287-7042-7B5A-202F-6FCFEA3A4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B5F081-CE19-610F-ACFA-61D4E1536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8E216-C98F-4D67-04AE-F61D2DE40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98748-41CA-504E-ACB3-402CF4844976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F89FE-B21A-1721-0A35-AF1022B2F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C6FF8D-CB2F-E569-7A54-3675D026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20767-8E31-6D40-80E0-3543D8E54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35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3BE8B-9D9A-A811-5520-E4635293E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0669-CB69-EF97-1C11-6C24D7995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63E120-FB41-E0EF-3034-B5157C3AC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98748-41CA-504E-ACB3-402CF4844976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C09E58-7AE9-953F-DD31-EF259EB7E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F330AA-C9DF-8665-A077-D23DE3A3C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20767-8E31-6D40-80E0-3543D8E54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460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3C3BF-4D04-BC01-A7A3-325E6FE45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1D9CF-0C0F-25C7-9579-1C5CD9CD53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61861-BAF2-8E5D-DAF9-AC5018ADA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98748-41CA-504E-ACB3-402CF4844976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6D5E3-EF7C-B2AD-C5A1-31A398AF7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8DF8E-DFC7-E080-CFB2-F9AD48048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20767-8E31-6D40-80E0-3543D8E54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25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6482D-2465-5553-2711-1A065EB34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A5C39-9DA1-D97E-55A3-47B8EAEC24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31D788-1756-CF78-61D5-831521689B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90494A-51AE-B05E-204C-685AAC7CF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98748-41CA-504E-ACB3-402CF4844976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DA30EC-D623-AFD9-ECE4-416479837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49528C-158C-E95C-B36F-B9863360B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20767-8E31-6D40-80E0-3543D8E54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47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A6368-C086-5D7C-A968-73898A955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543B89-AC07-4447-9D4F-50742EE5D3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AB59B4-7195-D2A4-6CC0-AA5189627F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E288-4F9A-B4F7-62AB-47B519A717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27F114-D338-4ABD-63EA-A96B9FA3DA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FEE806-66BD-FF03-42A6-EDF4788BF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98748-41CA-504E-ACB3-402CF4844976}" type="datetimeFigureOut">
              <a:rPr lang="en-US" smtClean="0"/>
              <a:t>7/1/26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C9FE8C-37D1-9DB5-AD45-A687C63AF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9719C2-32D8-D843-BF8F-C64B99965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20767-8E31-6D40-80E0-3543D8E54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946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905DB-A022-C21F-16C5-0CE7E616C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2C595B-98EB-E3FA-55D6-8A7F29719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98748-41CA-504E-ACB3-402CF4844976}" type="datetimeFigureOut">
              <a:rPr lang="en-US" smtClean="0"/>
              <a:t>7/1/26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5537B1-FC9E-BDA1-4007-0809FE9FE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76F5F0-8E7B-9166-DA4B-24C8745DD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20767-8E31-6D40-80E0-3543D8E54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53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00A033-E00E-2BF1-15FF-289C7BF2C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98748-41CA-504E-ACB3-402CF4844976}" type="datetimeFigureOut">
              <a:rPr lang="en-US" smtClean="0"/>
              <a:t>7/1/26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C27C84-ED2D-AD89-1551-4A8667F02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C68287-6102-1BEE-27BF-F24A77304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20767-8E31-6D40-80E0-3543D8E54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876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885ED-1489-966D-1B60-69209C1E8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B8D01-5323-EF89-4CCE-A4C3D1979C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57C77D-C094-15B8-8AAE-C2A5B3EE97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5E9443-9A9C-9A5F-A69B-12C0E53B3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98748-41CA-504E-ACB3-402CF4844976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2B5C08-6160-EA9C-F11D-69FC2BCA2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13C2B1-B538-C00F-1F60-342DFE10B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20767-8E31-6D40-80E0-3543D8E54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999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65FCF-921A-AAAD-E9F6-925F9AA19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28915D-FF75-AAE1-725F-5C41D04968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107F1E-CA21-00AD-D3B6-6EDF659E8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A19DE5-E426-320B-B836-1FC9AA065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98748-41CA-504E-ACB3-402CF4844976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669C5B-A707-8495-41C0-93A86052A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9402D8-7F21-30A9-D118-8CFED7F5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20767-8E31-6D40-80E0-3543D8E54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891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39E77-9044-C5B9-9709-9EC18A398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F34A48-99E7-4CD7-7770-06DD1422AB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02557-B195-A630-9E51-E3F1AF47D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98748-41CA-504E-ACB3-402CF4844976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F191B-9F9C-34C3-5B92-B179D5E87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4E5A0-A38A-60B0-03A2-CBE29E61E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20767-8E31-6D40-80E0-3543D8E54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858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3EB8CB-5EC7-CD54-23FA-C74F11EC57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BA9C97-16B8-EF8B-59D2-3AB52F19D5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7F3E8-6E5D-B993-C475-C6C53E54A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98748-41CA-504E-ACB3-402CF4844976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C59246-9258-653E-D651-FAC0869FE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E3366F-A310-ED39-C28C-FD7A3E490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720767-8E31-6D40-80E0-3543D8E54A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102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EE68A9-0ACE-24A9-F2FC-7246767E0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A906D2-4821-AC49-B7B5-0493A3BC03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F6159A-B45A-0165-0C7F-D5430478DD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E98748-41CA-504E-ACB3-402CF4844976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3050E-9E0C-239C-4645-274A608216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8E8779-95DD-3C44-9593-B195DA81FB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720767-8E31-6D40-80E0-3543D8E54A91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AccentBarLeft"/>
          <p:cNvSpPr/>
          <p:nvPr/>
        </p:nvSpPr>
        <p:spPr>
          <a:xfrm>
            <a:off x="0" y="0"/>
            <a:ext cx="60960" cy="6858000"/>
          </a:xfrm>
          <a:prstGeom prst="rect">
            <a:avLst/>
          </a:prstGeom>
          <a:gradFill>
            <a:gsLst>
              <a:gs pos="0">
                <a:srgbClr val="EC008C"/>
              </a:gs>
              <a:gs pos="100000">
                <a:srgbClr val="24BDA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CornerDot"/>
          <p:cNvSpPr/>
          <p:nvPr/>
        </p:nvSpPr>
        <p:spPr>
          <a:xfrm>
            <a:off x="11582400" y="6400800"/>
            <a:ext cx="571500" cy="457200"/>
          </a:xfrm>
          <a:prstGeom prst="rect">
            <a:avLst/>
          </a:prstGeom>
          <a:solidFill>
            <a:srgbClr val="FFCB09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33372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6182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E3047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svg"/><Relationship Id="rId4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FABA4-F710-C02C-E71F-0647865642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4400" b="1" dirty="0">
                <a:solidFill>
                  <a:srgbClr val="16182B"/>
                </a:solidFill>
                <a:latin typeface="Indosat Bold Bold" pitchFamily="2" charset="77"/>
              </a:rPr>
              <a:t>Constrained </a:t>
            </a:r>
            <a:r>
              <a:rPr lang="en-US" sz="4400" b="1" dirty="0">
                <a:solidFill>
                  <a:srgbClr val="EC008C"/>
                </a:solidFill>
                <a:latin typeface="Indosat Bold Bold" pitchFamily="2" charset="77"/>
              </a:rPr>
              <a:t>Gödel-Agent</a:t>
            </a:r>
            <a:r>
              <a:rPr lang="en-US" sz="4400" b="1" dirty="0">
                <a:solidFill>
                  <a:srgbClr val="16182B"/>
                </a:solidFill>
                <a:latin typeface="Indosat Bold Bold" pitchFamily="2" charset="77"/>
              </a:rPr>
              <a:t> Prototype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96B663-7ED1-F50A-3B0C-AFAD517700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22554" y="3705274"/>
            <a:ext cx="10141974" cy="1655762"/>
          </a:xfrm>
        </p:spPr>
        <p:txBody>
          <a:bodyPr/>
          <a:lstStyle/>
          <a:p>
            <a:pPr algn="ctr"/>
            <a:r>
              <a:rPr lang="en-US" sz="2000" b="1" dirty="0">
                <a:solidFill>
                  <a:srgbClr val="24BDAD"/>
                </a:solidFill>
              </a:rPr>
              <a:t>Sovereign, self-improving AI that runs entirely on your own infrastructure — safe by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6C6DB7-3A82-4E46-B4D1-56A1AC4000DA}"/>
              </a:ext>
            </a:extLst>
          </p:cNvPr>
          <p:cNvSpPr txBox="1"/>
          <p:nvPr/>
        </p:nvSpPr>
        <p:spPr>
          <a:xfrm>
            <a:off x="1778000" y="5461000"/>
            <a:ext cx="8636000" cy="538609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ctr"/>
            <a:r>
              <a:rPr lang="en-US" sz="1500" b="1" dirty="0">
                <a:solidFill>
                  <a:srgbClr val="16182B"/>
                </a:solidFill>
              </a:rPr>
              <a:t>No foreign models  ·  No data leaves your environment  ·  No third-party dependencies</a:t>
            </a:r>
          </a:p>
          <a:p>
            <a:pPr algn="ctr"/>
            <a:r>
              <a:rPr lang="en-US" sz="1400" dirty="0">
                <a:solidFill>
                  <a:srgbClr val="2E3047"/>
                </a:solidFill>
              </a:rPr>
              <a:t>A practical path from a working prototype today to a sovereign Indonesian language model</a:t>
            </a:r>
          </a:p>
        </p:txBody>
      </p:sp>
    </p:spTree>
    <p:extLst>
      <p:ext uri="{BB962C8B-B14F-4D97-AF65-F5344CB8AC3E}">
        <p14:creationId xmlns:p14="http://schemas.microsoft.com/office/powerpoint/2010/main" val="3602289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7CD62-FA9B-1173-FE0E-E3499DCE7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latin typeface="Indosat Regular" pitchFamily="2" charset="77"/>
              </a:rPr>
              <a:t>Executive summary</a:t>
            </a:r>
          </a:p>
        </p:txBody>
      </p:sp>
      <p:sp>
        <p:nvSpPr>
          <p:cNvPr id="500" name="card"/>
          <p:cNvSpPr/>
          <p:nvPr/>
        </p:nvSpPr>
        <p:spPr>
          <a:xfrm>
            <a:off x="838200" y="2184400"/>
            <a:ext cx="3302000" cy="391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  <a:effectLst>
            <a:outerShdw blurRad="90000" dist="38100" dir="5400000" rotWithShape="0">
              <a:srgbClr val="16182B">
                <a:alpha val="10000"/>
              </a:srgbClr>
            </a:outerShdw>
          </a:effectLst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01" name="iconbg"/>
          <p:cNvSpPr/>
          <p:nvPr/>
        </p:nvSpPr>
        <p:spPr>
          <a:xfrm>
            <a:off x="2082800" y="2540000"/>
            <a:ext cx="812800" cy="812800"/>
          </a:xfrm>
          <a:prstGeom prst="ellipse">
            <a:avLst/>
          </a:prstGeom>
          <a:solidFill>
            <a:srgbClr val="24BDA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02" name="head"/>
          <p:cNvSpPr/>
          <p:nvPr/>
        </p:nvSpPr>
        <p:spPr>
          <a:xfrm>
            <a:off x="1041400" y="3505200"/>
            <a:ext cx="2895600" cy="50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US" sz="1900" b="1" dirty="0">
                <a:solidFill>
                  <a:srgbClr val="24BDAD"/>
                </a:solidFill>
                <a:latin typeface="Indosat Regular" pitchFamily="2" charset="77"/>
              </a:rPr>
              <a:t>Data sovereignty</a:t>
            </a:r>
          </a:p>
        </p:txBody>
      </p:sp>
      <p:sp>
        <p:nvSpPr>
          <p:cNvPr id="503" name="body"/>
          <p:cNvSpPr/>
          <p:nvPr/>
        </p:nvSpPr>
        <p:spPr>
          <a:xfrm>
            <a:off x="1066800" y="4114800"/>
            <a:ext cx="2844800" cy="177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US" sz="1500" dirty="0">
                <a:solidFill>
                  <a:srgbClr val="2E3047"/>
                </a:solidFill>
                <a:latin typeface="Indosat Regular" pitchFamily="2" charset="77"/>
              </a:rPr>
              <a:t>Prompts, code, and data never leave your environment. No foreign LLM required.</a:t>
            </a:r>
          </a:p>
        </p:txBody>
      </p:sp>
      <p:sp>
        <p:nvSpPr>
          <p:cNvPr id="504" name="card"/>
          <p:cNvSpPr/>
          <p:nvPr/>
        </p:nvSpPr>
        <p:spPr>
          <a:xfrm>
            <a:off x="4445000" y="2184400"/>
            <a:ext cx="3302000" cy="391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  <a:effectLst>
            <a:outerShdw blurRad="90000" dist="38100" dir="5400000" rotWithShape="0">
              <a:srgbClr val="16182B">
                <a:alpha val="10000"/>
              </a:srgbClr>
            </a:outerShdw>
          </a:effectLst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05" name="iconbg"/>
          <p:cNvSpPr/>
          <p:nvPr/>
        </p:nvSpPr>
        <p:spPr>
          <a:xfrm>
            <a:off x="5689600" y="2540000"/>
            <a:ext cx="812800" cy="812800"/>
          </a:xfrm>
          <a:prstGeom prst="ellipse">
            <a:avLst/>
          </a:prstGeom>
          <a:solidFill>
            <a:srgbClr val="EC008C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06" name="head"/>
          <p:cNvSpPr/>
          <p:nvPr/>
        </p:nvSpPr>
        <p:spPr>
          <a:xfrm>
            <a:off x="4648200" y="3505200"/>
            <a:ext cx="2895600" cy="50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US" sz="1900" b="1" dirty="0">
                <a:solidFill>
                  <a:srgbClr val="EC008C"/>
                </a:solidFill>
                <a:latin typeface="Indosat Regular" pitchFamily="2" charset="77"/>
              </a:rPr>
              <a:t>Safe by design</a:t>
            </a:r>
          </a:p>
        </p:txBody>
      </p:sp>
      <p:sp>
        <p:nvSpPr>
          <p:cNvPr id="507" name="body"/>
          <p:cNvSpPr/>
          <p:nvPr/>
        </p:nvSpPr>
        <p:spPr>
          <a:xfrm>
            <a:off x="4673600" y="4114800"/>
            <a:ext cx="2844800" cy="177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US" sz="1500" dirty="0">
                <a:solidFill>
                  <a:srgbClr val="2E3047"/>
                </a:solidFill>
                <a:latin typeface="Indosat Regular" pitchFamily="2" charset="77"/>
              </a:rPr>
              <a:t>The AI may rewrite only one validated function — every change is gated and auto-rolled back if it regresses.</a:t>
            </a:r>
          </a:p>
        </p:txBody>
      </p:sp>
      <p:sp>
        <p:nvSpPr>
          <p:cNvPr id="508" name="card"/>
          <p:cNvSpPr/>
          <p:nvPr/>
        </p:nvSpPr>
        <p:spPr>
          <a:xfrm>
            <a:off x="8051800" y="2184400"/>
            <a:ext cx="3302000" cy="391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  <a:effectLst>
            <a:outerShdw blurRad="90000" dist="38100" dir="5400000" rotWithShape="0">
              <a:srgbClr val="16182B">
                <a:alpha val="10000"/>
              </a:srgbClr>
            </a:outerShdw>
          </a:effectLst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09" name="iconbg"/>
          <p:cNvSpPr/>
          <p:nvPr/>
        </p:nvSpPr>
        <p:spPr>
          <a:xfrm>
            <a:off x="9296400" y="2540000"/>
            <a:ext cx="812800" cy="812800"/>
          </a:xfrm>
          <a:prstGeom prst="ellipse">
            <a:avLst/>
          </a:prstGeom>
          <a:solidFill>
            <a:srgbClr val="C7158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10" name="head"/>
          <p:cNvSpPr/>
          <p:nvPr/>
        </p:nvSpPr>
        <p:spPr>
          <a:xfrm>
            <a:off x="8255000" y="3505200"/>
            <a:ext cx="2895600" cy="50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US" sz="1900" b="1" dirty="0">
                <a:solidFill>
                  <a:srgbClr val="C7158D"/>
                </a:solidFill>
                <a:latin typeface="Indosat Regular" pitchFamily="2" charset="77"/>
              </a:rPr>
              <a:t>Lower cost, no lock-in</a:t>
            </a:r>
          </a:p>
        </p:txBody>
      </p:sp>
      <p:sp>
        <p:nvSpPr>
          <p:cNvPr id="511" name="body"/>
          <p:cNvSpPr/>
          <p:nvPr/>
        </p:nvSpPr>
        <p:spPr>
          <a:xfrm>
            <a:off x="8280400" y="4114800"/>
            <a:ext cx="2844800" cy="177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US" sz="1500" dirty="0">
                <a:solidFill>
                  <a:srgbClr val="2E3047"/>
                </a:solidFill>
                <a:latin typeface="Indosat Regular" pitchFamily="2" charset="77"/>
              </a:rPr>
              <a:t>Runs on the Python standard library alone — no vendor fees, no dependencies, no network.</a:t>
            </a:r>
          </a:p>
        </p:txBody>
      </p:sp>
      <p:pic>
        <p:nvPicPr>
          <p:cNvPr id="512" name="Graphic 512" descr="Data sovereign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09800" y="2667000"/>
            <a:ext cx="558800" cy="558800"/>
          </a:xfrm>
          <a:prstGeom prst="rect">
            <a:avLst/>
          </a:prstGeom>
        </p:spPr>
      </p:pic>
      <p:pic>
        <p:nvPicPr>
          <p:cNvPr id="513" name="Graphic 513" descr="Safe by desig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6600" y="2667000"/>
            <a:ext cx="558800" cy="558800"/>
          </a:xfrm>
          <a:prstGeom prst="rect">
            <a:avLst/>
          </a:prstGeom>
        </p:spPr>
      </p:pic>
      <p:pic>
        <p:nvPicPr>
          <p:cNvPr id="514" name="Graphic 514" descr="Lower cost, no lock-i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23400" y="2667000"/>
            <a:ext cx="5588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734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FDFEB-4019-001A-1445-52374E235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latin typeface="Indosat Regular" pitchFamily="2" charset="77"/>
              </a:rPr>
              <a:t>The problem we're solving</a:t>
            </a:r>
          </a:p>
        </p:txBody>
      </p:sp>
      <p:sp>
        <p:nvSpPr>
          <p:cNvPr id="520" name="row"/>
          <p:cNvSpPr/>
          <p:nvPr/>
        </p:nvSpPr>
        <p:spPr>
          <a:xfrm>
            <a:off x="838200" y="1905000"/>
            <a:ext cx="10515600" cy="12700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21" name="stripe"/>
          <p:cNvSpPr/>
          <p:nvPr/>
        </p:nvSpPr>
        <p:spPr>
          <a:xfrm>
            <a:off x="838200" y="1905000"/>
            <a:ext cx="127000" cy="1270000"/>
          </a:xfrm>
          <a:prstGeom prst="rect">
            <a:avLst/>
          </a:prstGeom>
          <a:solidFill>
            <a:srgbClr val="EE1C24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22" name="iconbg"/>
          <p:cNvSpPr/>
          <p:nvPr/>
        </p:nvSpPr>
        <p:spPr>
          <a:xfrm>
            <a:off x="1143000" y="2209800"/>
            <a:ext cx="660400" cy="660400"/>
          </a:xfrm>
          <a:prstGeom prst="ellipse">
            <a:avLst/>
          </a:prstGeom>
          <a:solidFill>
            <a:srgbClr val="EE1C24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23" name="head"/>
          <p:cNvSpPr/>
          <p:nvPr/>
        </p:nvSpPr>
        <p:spPr>
          <a:xfrm>
            <a:off x="2108200" y="2108200"/>
            <a:ext cx="9017000" cy="406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lang="en-US" sz="1800" b="1" dirty="0">
                <a:solidFill>
                  <a:srgbClr val="16182B"/>
                </a:solidFill>
                <a:latin typeface="Indosat Regular" pitchFamily="2" charset="77"/>
              </a:rPr>
              <a:t>Foreign-model dependency</a:t>
            </a:r>
          </a:p>
        </p:txBody>
      </p:sp>
      <p:sp>
        <p:nvSpPr>
          <p:cNvPr id="524" name="body"/>
          <p:cNvSpPr/>
          <p:nvPr/>
        </p:nvSpPr>
        <p:spPr>
          <a:xfrm>
            <a:off x="2108200" y="2540000"/>
            <a:ext cx="9017000" cy="53340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r>
              <a:rPr lang="en-US" sz="1500" dirty="0">
                <a:solidFill>
                  <a:srgbClr val="2E3047"/>
                </a:solidFill>
                <a:latin typeface="Indosat Regular" pitchFamily="2" charset="77"/>
              </a:rPr>
              <a:t>Sending prompts and records to external LLM APIs puts banking, Dukcapil/NIK and NPWP/DJP data outside your control.</a:t>
            </a:r>
          </a:p>
        </p:txBody>
      </p:sp>
      <p:sp>
        <p:nvSpPr>
          <p:cNvPr id="525" name="row"/>
          <p:cNvSpPr/>
          <p:nvPr/>
        </p:nvSpPr>
        <p:spPr>
          <a:xfrm>
            <a:off x="838200" y="3352800"/>
            <a:ext cx="10515600" cy="12700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26" name="stripe"/>
          <p:cNvSpPr/>
          <p:nvPr/>
        </p:nvSpPr>
        <p:spPr>
          <a:xfrm>
            <a:off x="838200" y="3352800"/>
            <a:ext cx="127000" cy="1270000"/>
          </a:xfrm>
          <a:prstGeom prst="rect">
            <a:avLst/>
          </a:prstGeom>
          <a:solidFill>
            <a:srgbClr val="EC008C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27" name="iconbg"/>
          <p:cNvSpPr/>
          <p:nvPr/>
        </p:nvSpPr>
        <p:spPr>
          <a:xfrm>
            <a:off x="1143000" y="3657600"/>
            <a:ext cx="660400" cy="660400"/>
          </a:xfrm>
          <a:prstGeom prst="ellipse">
            <a:avLst/>
          </a:prstGeom>
          <a:solidFill>
            <a:srgbClr val="EC008C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28" name="head"/>
          <p:cNvSpPr/>
          <p:nvPr/>
        </p:nvSpPr>
        <p:spPr>
          <a:xfrm>
            <a:off x="2108200" y="3556000"/>
            <a:ext cx="9017000" cy="406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lang="en-US" sz="1800" b="1" dirty="0">
                <a:solidFill>
                  <a:srgbClr val="16182B"/>
                </a:solidFill>
                <a:latin typeface="Indosat Regular" pitchFamily="2" charset="77"/>
              </a:rPr>
              <a:t>Cost and vendor lock-in</a:t>
            </a:r>
          </a:p>
        </p:txBody>
      </p:sp>
      <p:sp>
        <p:nvSpPr>
          <p:cNvPr id="529" name="body"/>
          <p:cNvSpPr/>
          <p:nvPr/>
        </p:nvSpPr>
        <p:spPr>
          <a:xfrm>
            <a:off x="2108200" y="3987800"/>
            <a:ext cx="9017000" cy="533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lang="en-US" sz="1500" dirty="0">
                <a:solidFill>
                  <a:srgbClr val="2E3047"/>
                </a:solidFill>
                <a:latin typeface="Indosat Regular" pitchFamily="2" charset="77"/>
              </a:rPr>
              <a:t>Per-call fees, rate limits, and reliance on a third party's roadmap, pricing and uptime.</a:t>
            </a:r>
          </a:p>
        </p:txBody>
      </p:sp>
      <p:sp>
        <p:nvSpPr>
          <p:cNvPr id="530" name="row"/>
          <p:cNvSpPr/>
          <p:nvPr/>
        </p:nvSpPr>
        <p:spPr>
          <a:xfrm>
            <a:off x="838200" y="4800600"/>
            <a:ext cx="10515600" cy="12700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31" name="stripe"/>
          <p:cNvSpPr/>
          <p:nvPr/>
        </p:nvSpPr>
        <p:spPr>
          <a:xfrm>
            <a:off x="838200" y="4800600"/>
            <a:ext cx="127000" cy="1270000"/>
          </a:xfrm>
          <a:prstGeom prst="rect">
            <a:avLst/>
          </a:prstGeom>
          <a:solidFill>
            <a:srgbClr val="C7158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32" name="iconbg"/>
          <p:cNvSpPr/>
          <p:nvPr/>
        </p:nvSpPr>
        <p:spPr>
          <a:xfrm>
            <a:off x="1143000" y="5105400"/>
            <a:ext cx="660400" cy="660400"/>
          </a:xfrm>
          <a:prstGeom prst="ellipse">
            <a:avLst/>
          </a:prstGeom>
          <a:solidFill>
            <a:srgbClr val="C7158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533" name="head"/>
          <p:cNvSpPr/>
          <p:nvPr/>
        </p:nvSpPr>
        <p:spPr>
          <a:xfrm>
            <a:off x="2108200" y="5003800"/>
            <a:ext cx="9017000" cy="406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lang="en-US" sz="1800" b="1" dirty="0">
                <a:solidFill>
                  <a:srgbClr val="16182B"/>
                </a:solidFill>
                <a:latin typeface="Indosat Regular" pitchFamily="2" charset="77"/>
              </a:rPr>
              <a:t>Ungoverned self-modifying AI</a:t>
            </a:r>
          </a:p>
        </p:txBody>
      </p:sp>
      <p:sp>
        <p:nvSpPr>
          <p:cNvPr id="534" name="body"/>
          <p:cNvSpPr/>
          <p:nvPr/>
        </p:nvSpPr>
        <p:spPr>
          <a:xfrm>
            <a:off x="2108200" y="5435600"/>
            <a:ext cx="9017000" cy="53340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r>
              <a:rPr lang="en-US" sz="1500" dirty="0">
                <a:solidFill>
                  <a:srgbClr val="2E3047"/>
                </a:solidFill>
                <a:latin typeface="Indosat Regular" pitchFamily="2" charset="77"/>
              </a:rPr>
              <a:t>Agentic systems that rewrite their own logic are powerful — but unconstrained changes are unsafe and hard to audit.</a:t>
            </a:r>
          </a:p>
        </p:txBody>
      </p:sp>
      <p:pic>
        <p:nvPicPr>
          <p:cNvPr id="535" name="Graphic 535" descr="Foreign-model dependenc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70000" y="2336800"/>
            <a:ext cx="406400" cy="406400"/>
          </a:xfrm>
          <a:prstGeom prst="rect">
            <a:avLst/>
          </a:prstGeom>
        </p:spPr>
      </p:pic>
      <p:pic>
        <p:nvPicPr>
          <p:cNvPr id="536" name="Graphic 536" descr="Cost and lock-i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00" y="3784600"/>
            <a:ext cx="406400" cy="406400"/>
          </a:xfrm>
          <a:prstGeom prst="rect">
            <a:avLst/>
          </a:prstGeom>
        </p:spPr>
      </p:pic>
      <p:pic>
        <p:nvPicPr>
          <p:cNvPr id="537" name="Graphic 537" descr="Ungoverned self-modifying A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0000" y="52324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722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42E42-13DD-D89B-5551-17AD36D4A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latin typeface="Indosat Regular" pitchFamily="2" charset="77"/>
              </a:rPr>
              <a:t>Our solution, in plain terms</a:t>
            </a:r>
          </a:p>
        </p:txBody>
      </p:sp>
      <p:sp>
        <p:nvSpPr>
          <p:cNvPr id="600" name="stmt"/>
          <p:cNvSpPr/>
          <p:nvPr/>
        </p:nvSpPr>
        <p:spPr>
          <a:xfrm>
            <a:off x="838200" y="1752600"/>
            <a:ext cx="10515600" cy="889000"/>
          </a:xfrm>
          <a:prstGeom prst="roundRect">
            <a:avLst>
              <a:gd name="adj" fmla="val 12000"/>
            </a:avLst>
          </a:prstGeom>
          <a:solidFill>
            <a:srgbClr val="F3F3F8"/>
          </a:solidFill>
          <a:ln>
            <a:noFill/>
          </a:ln>
        </p:spPr>
        <p:txBody>
          <a:bodyPr wrap="square" lIns="228600" rIns="228600" anchor="ctr">
            <a:normAutofit/>
          </a:bodyPr>
          <a:lstStyle/>
          <a:p>
            <a:pPr algn="ctr"/>
            <a:r>
              <a:rPr lang="en-US" sz="1600" dirty="0">
                <a:solidFill>
                  <a:srgbClr val="16182B"/>
                </a:solidFill>
                <a:latin typeface="Indosat Regular" pitchFamily="2" charset="77"/>
              </a:rPr>
              <a:t>The core idea: software that inspects its own decision logic and rewrites it to perform better — round after round.</a:t>
            </a:r>
          </a:p>
        </p:txBody>
      </p:sp>
      <p:sp>
        <p:nvSpPr>
          <p:cNvPr id="6601" name="panel"/>
          <p:cNvSpPr/>
          <p:nvPr/>
        </p:nvSpPr>
        <p:spPr>
          <a:xfrm>
            <a:off x="838200" y="2844800"/>
            <a:ext cx="51054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  <a:effectLst>
            <a:outerShdw blurRad="90000" dist="38100" dir="5400000" rotWithShape="0">
              <a:srgbClr val="16182B">
                <a:alpha val="10000"/>
              </a:srgbClr>
            </a:outerShdw>
          </a:effectLst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602" name="hdr"/>
          <p:cNvSpPr/>
          <p:nvPr/>
        </p:nvSpPr>
        <p:spPr>
          <a:xfrm>
            <a:off x="838200" y="2844800"/>
            <a:ext cx="5105400" cy="609600"/>
          </a:xfrm>
          <a:prstGeom prst="roundRect">
            <a:avLst>
              <a:gd name="adj" fmla="val 5000"/>
            </a:avLst>
          </a:prstGeom>
          <a:solidFill>
            <a:srgbClr val="24BDAD"/>
          </a:solidFill>
          <a:ln>
            <a:noFill/>
          </a:ln>
        </p:spPr>
        <p:txBody>
          <a:bodyPr wrap="square" lIns="203200" anchor="ctr">
            <a:normAutofit/>
          </a:bodyPr>
          <a:lstStyle/>
          <a:p>
            <a:r>
              <a:rPr lang="en-US" sz="1600" b="1" dirty="0">
                <a:solidFill>
                  <a:srgbClr val="FFFFFF"/>
                </a:solidFill>
                <a:latin typeface="Indosat Regular" pitchFamily="2" charset="77"/>
              </a:rPr>
              <a:t>What we keep — the power</a:t>
            </a:r>
          </a:p>
        </p:txBody>
      </p:sp>
      <p:sp>
        <p:nvSpPr>
          <p:cNvPr id="6603" name="pbody"/>
          <p:cNvSpPr/>
          <p:nvPr/>
        </p:nvSpPr>
        <p:spPr>
          <a:xfrm>
            <a:off x="1066800" y="3632200"/>
            <a:ext cx="4648200" cy="2286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1500" dirty="0">
                <a:solidFill>
                  <a:srgbClr val="2E3047"/>
                </a:solidFill>
                <a:latin typeface="Indosat Regular" pitchFamily="2" charset="77"/>
              </a:rPr>
              <a:t>Self-inspection: the AI reviews its own performance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1500" dirty="0">
                <a:solidFill>
                  <a:srgbClr val="2E3047"/>
                </a:solidFill>
                <a:latin typeface="Indosat Regular" pitchFamily="2" charset="77"/>
              </a:rPr>
              <a:t>Recursive improvement each round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1500" dirty="0">
                <a:solidFill>
                  <a:srgbClr val="2E3047"/>
                </a:solidFill>
                <a:latin typeface="Indosat Regular" pitchFamily="2" charset="77"/>
              </a:rPr>
              <a:t>Live patching of the running policy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1500" dirty="0">
                <a:solidFill>
                  <a:srgbClr val="2E3047"/>
                </a:solidFill>
                <a:latin typeface="Indosat Regular" pitchFamily="2" charset="77"/>
              </a:rPr>
              <a:t>Automatic rollback of bad changes</a:t>
            </a:r>
          </a:p>
        </p:txBody>
      </p:sp>
      <p:sp>
        <p:nvSpPr>
          <p:cNvPr id="49201" name="panel"/>
          <p:cNvSpPr/>
          <p:nvPr/>
        </p:nvSpPr>
        <p:spPr>
          <a:xfrm>
            <a:off x="6248400" y="2844800"/>
            <a:ext cx="51054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  <a:effectLst>
            <a:outerShdw blurRad="90000" dist="38100" dir="5400000" rotWithShape="0">
              <a:srgbClr val="16182B">
                <a:alpha val="10000"/>
              </a:srgbClr>
            </a:outerShdw>
          </a:effectLst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49202" name="hdr"/>
          <p:cNvSpPr/>
          <p:nvPr/>
        </p:nvSpPr>
        <p:spPr>
          <a:xfrm>
            <a:off x="6248400" y="2844800"/>
            <a:ext cx="5105400" cy="609600"/>
          </a:xfrm>
          <a:prstGeom prst="roundRect">
            <a:avLst>
              <a:gd name="adj" fmla="val 5000"/>
            </a:avLst>
          </a:prstGeom>
          <a:solidFill>
            <a:srgbClr val="EC008C"/>
          </a:solidFill>
          <a:ln>
            <a:noFill/>
          </a:ln>
        </p:spPr>
        <p:txBody>
          <a:bodyPr wrap="square" lIns="203200" anchor="ctr">
            <a:normAutofit/>
          </a:bodyPr>
          <a:lstStyle/>
          <a:p>
            <a:r>
              <a:rPr lang="en-US" sz="1600" b="1" dirty="0">
                <a:solidFill>
                  <a:srgbClr val="FFFFFF"/>
                </a:solidFill>
                <a:latin typeface="Indosat Regular" pitchFamily="2" charset="77"/>
              </a:rPr>
              <a:t>What we remove — the risk</a:t>
            </a:r>
          </a:p>
        </p:txBody>
      </p:sp>
      <p:sp>
        <p:nvSpPr>
          <p:cNvPr id="49203" name="pbody"/>
          <p:cNvSpPr/>
          <p:nvPr/>
        </p:nvSpPr>
        <p:spPr>
          <a:xfrm>
            <a:off x="6477000" y="3632200"/>
            <a:ext cx="4648200" cy="2286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1500" dirty="0">
                <a:solidFill>
                  <a:srgbClr val="2E3047"/>
                </a:solidFill>
                <a:latin typeface="Indosat Regular" pitchFamily="2" charset="77"/>
              </a:rPr>
              <a:t>It may change only ONE small, validated function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1500" dirty="0">
                <a:solidFill>
                  <a:srgbClr val="2E3047"/>
                </a:solidFill>
                <a:latin typeface="Indosat Regular" pitchFamily="2" charset="77"/>
              </a:rPr>
              <a:t>No rewriting itself, its files, or its environment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1500" dirty="0">
                <a:solidFill>
                  <a:srgbClr val="2E3047"/>
                </a:solidFill>
                <a:latin typeface="Indosat Regular" pitchFamily="2" charset="77"/>
              </a:rPr>
              <a:t>Easy to read, easy to reason about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1500" dirty="0">
                <a:solidFill>
                  <a:srgbClr val="2E3047"/>
                </a:solidFill>
                <a:latin typeface="Indosat Regular" pitchFamily="2" charset="77"/>
              </a:rPr>
              <a:t>Safe to run on a single laptop</a:t>
            </a:r>
          </a:p>
        </p:txBody>
      </p:sp>
    </p:spTree>
    <p:extLst>
      <p:ext uri="{BB962C8B-B14F-4D97-AF65-F5344CB8AC3E}">
        <p14:creationId xmlns:p14="http://schemas.microsoft.com/office/powerpoint/2010/main" val="1111866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DBEA-8FCA-EDC3-08AE-7B48EA6A3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latin typeface="Indosat Regular" pitchFamily="2" charset="77"/>
              </a:rPr>
              <a:t>How it works — a self-improvement loop</a:t>
            </a:r>
          </a:p>
        </p:txBody>
      </p:sp>
      <p:sp>
        <p:nvSpPr>
          <p:cNvPr id="700" name="stepcard"/>
          <p:cNvSpPr/>
          <p:nvPr/>
        </p:nvSpPr>
        <p:spPr>
          <a:xfrm>
            <a:off x="838200" y="2184400"/>
            <a:ext cx="2286000" cy="271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BDAD"/>
            </a:solidFill>
          </a:ln>
          <a:effectLst>
            <a:outerShdw blurRad="90000" dist="38100" dir="5400000" rotWithShape="0">
              <a:srgbClr val="16182B">
                <a:alpha val="9000"/>
              </a:srgbClr>
            </a:outerShdw>
          </a:effectLst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710" name="num"/>
          <p:cNvSpPr/>
          <p:nvPr/>
        </p:nvSpPr>
        <p:spPr>
          <a:xfrm>
            <a:off x="1689100" y="2387600"/>
            <a:ext cx="584200" cy="584200"/>
          </a:xfrm>
          <a:prstGeom prst="ellipse">
            <a:avLst/>
          </a:prstGeom>
          <a:solidFill>
            <a:srgbClr val="24BDAD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Indosat Regular" pitchFamily="2" charset="77"/>
              </a:rPr>
              <a:t>1</a:t>
            </a:r>
          </a:p>
        </p:txBody>
      </p:sp>
      <p:sp>
        <p:nvSpPr>
          <p:cNvPr id="720" name="steptxt"/>
          <p:cNvSpPr/>
          <p:nvPr/>
        </p:nvSpPr>
        <p:spPr>
          <a:xfrm>
            <a:off x="965200" y="3098800"/>
            <a:ext cx="2032000" cy="1676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US" sz="1800" b="1" dirty="0">
                <a:solidFill>
                  <a:srgbClr val="16182B"/>
                </a:solidFill>
                <a:latin typeface="Indosat Regular" pitchFamily="2" charset="77"/>
              </a:rPr>
              <a:t>Inspect</a:t>
            </a:r>
          </a:p>
          <a:p>
            <a:pPr algn="ctr">
              <a:spcBef>
                <a:spcPts val="600"/>
              </a:spcBef>
            </a:pPr>
            <a:r>
              <a:rPr lang="en-US" sz="1400" dirty="0">
                <a:solidFill>
                  <a:srgbClr val="2E3047"/>
                </a:solidFill>
                <a:latin typeface="Indosat Regular" pitchFamily="2" charset="77"/>
              </a:rPr>
              <a:t>The agent reads its own current approach</a:t>
            </a:r>
          </a:p>
        </p:txBody>
      </p:sp>
      <p:sp>
        <p:nvSpPr>
          <p:cNvPr id="730" name="arr"/>
          <p:cNvSpPr/>
          <p:nvPr/>
        </p:nvSpPr>
        <p:spPr>
          <a:xfrm>
            <a:off x="3175000" y="3403600"/>
            <a:ext cx="355600" cy="279400"/>
          </a:xfrm>
          <a:prstGeom prst="rightArrow">
            <a:avLst/>
          </a:prstGeom>
          <a:solidFill>
            <a:srgbClr val="B9BAC6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701" name="stepcard"/>
          <p:cNvSpPr/>
          <p:nvPr/>
        </p:nvSpPr>
        <p:spPr>
          <a:xfrm>
            <a:off x="3581400" y="2184400"/>
            <a:ext cx="2286000" cy="271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7158D"/>
            </a:solidFill>
          </a:ln>
          <a:effectLst>
            <a:outerShdw blurRad="90000" dist="38100" dir="5400000" rotWithShape="0">
              <a:srgbClr val="16182B">
                <a:alpha val="9000"/>
              </a:srgbClr>
            </a:outerShdw>
          </a:effectLst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711" name="num"/>
          <p:cNvSpPr/>
          <p:nvPr/>
        </p:nvSpPr>
        <p:spPr>
          <a:xfrm>
            <a:off x="4432300" y="2387600"/>
            <a:ext cx="584200" cy="584200"/>
          </a:xfrm>
          <a:prstGeom prst="ellipse">
            <a:avLst/>
          </a:prstGeom>
          <a:solidFill>
            <a:srgbClr val="C7158D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Indosat Regular" pitchFamily="2" charset="77"/>
              </a:rPr>
              <a:t>2</a:t>
            </a:r>
          </a:p>
        </p:txBody>
      </p:sp>
      <p:sp>
        <p:nvSpPr>
          <p:cNvPr id="721" name="steptxt"/>
          <p:cNvSpPr/>
          <p:nvPr/>
        </p:nvSpPr>
        <p:spPr>
          <a:xfrm>
            <a:off x="3708400" y="3098800"/>
            <a:ext cx="2032000" cy="1676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US" sz="1800" b="1" dirty="0">
                <a:solidFill>
                  <a:srgbClr val="16182B"/>
                </a:solidFill>
                <a:latin typeface="Indosat Regular" pitchFamily="2" charset="77"/>
              </a:rPr>
              <a:t>Evaluate</a:t>
            </a:r>
          </a:p>
          <a:p>
            <a:pPr algn="ctr">
              <a:spcBef>
                <a:spcPts val="600"/>
              </a:spcBef>
            </a:pPr>
            <a:r>
              <a:rPr lang="en-US" sz="1400" dirty="0">
                <a:solidFill>
                  <a:srgbClr val="2E3047"/>
                </a:solidFill>
                <a:latin typeface="Indosat Regular" pitchFamily="2" charset="77"/>
              </a:rPr>
              <a:t>It runs on real tasks and scores the outcome</a:t>
            </a:r>
          </a:p>
        </p:txBody>
      </p:sp>
      <p:sp>
        <p:nvSpPr>
          <p:cNvPr id="731" name="arr"/>
          <p:cNvSpPr/>
          <p:nvPr/>
        </p:nvSpPr>
        <p:spPr>
          <a:xfrm>
            <a:off x="5918200" y="3403600"/>
            <a:ext cx="355600" cy="279400"/>
          </a:xfrm>
          <a:prstGeom prst="rightArrow">
            <a:avLst/>
          </a:prstGeom>
          <a:solidFill>
            <a:srgbClr val="B9BAC6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702" name="stepcard"/>
          <p:cNvSpPr/>
          <p:nvPr/>
        </p:nvSpPr>
        <p:spPr>
          <a:xfrm>
            <a:off x="6324600" y="2184400"/>
            <a:ext cx="2286000" cy="271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C008C"/>
            </a:solidFill>
          </a:ln>
          <a:effectLst>
            <a:outerShdw blurRad="90000" dist="38100" dir="5400000" rotWithShape="0">
              <a:srgbClr val="16182B">
                <a:alpha val="9000"/>
              </a:srgbClr>
            </a:outerShdw>
          </a:effectLst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712" name="num"/>
          <p:cNvSpPr/>
          <p:nvPr/>
        </p:nvSpPr>
        <p:spPr>
          <a:xfrm>
            <a:off x="7175500" y="2387600"/>
            <a:ext cx="584200" cy="584200"/>
          </a:xfrm>
          <a:prstGeom prst="ellipse">
            <a:avLst/>
          </a:prstGeom>
          <a:solidFill>
            <a:srgbClr val="EC008C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Indosat Regular" pitchFamily="2" charset="77"/>
              </a:rPr>
              <a:t>3</a:t>
            </a:r>
          </a:p>
        </p:txBody>
      </p:sp>
      <p:sp>
        <p:nvSpPr>
          <p:cNvPr id="722" name="steptxt"/>
          <p:cNvSpPr/>
          <p:nvPr/>
        </p:nvSpPr>
        <p:spPr>
          <a:xfrm>
            <a:off x="6451600" y="3098800"/>
            <a:ext cx="2032000" cy="1676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US" sz="1800" b="1" dirty="0">
                <a:solidFill>
                  <a:srgbClr val="16182B"/>
                </a:solidFill>
                <a:latin typeface="Indosat Regular" pitchFamily="2" charset="77"/>
              </a:rPr>
              <a:t>Improve</a:t>
            </a:r>
          </a:p>
          <a:p>
            <a:pPr algn="ctr">
              <a:spcBef>
                <a:spcPts val="600"/>
              </a:spcBef>
            </a:pPr>
            <a:r>
              <a:rPr lang="en-US" sz="1400" dirty="0">
                <a:solidFill>
                  <a:srgbClr val="2E3047"/>
                </a:solidFill>
                <a:latin typeface="Indosat Regular" pitchFamily="2" charset="77"/>
              </a:rPr>
              <a:t>It proposes one change, tests it, and keeps it only if the score improves</a:t>
            </a:r>
          </a:p>
        </p:txBody>
      </p:sp>
      <p:sp>
        <p:nvSpPr>
          <p:cNvPr id="732" name="arr"/>
          <p:cNvSpPr/>
          <p:nvPr/>
        </p:nvSpPr>
        <p:spPr>
          <a:xfrm>
            <a:off x="8661400" y="3403600"/>
            <a:ext cx="355600" cy="279400"/>
          </a:xfrm>
          <a:prstGeom prst="rightArrow">
            <a:avLst/>
          </a:prstGeom>
          <a:solidFill>
            <a:srgbClr val="B9BAC6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703" name="stepcard"/>
          <p:cNvSpPr/>
          <p:nvPr/>
        </p:nvSpPr>
        <p:spPr>
          <a:xfrm>
            <a:off x="9067800" y="2184400"/>
            <a:ext cx="2286000" cy="271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FCB09"/>
            </a:solidFill>
          </a:ln>
          <a:effectLst>
            <a:outerShdw blurRad="90000" dist="38100" dir="5400000" rotWithShape="0">
              <a:srgbClr val="16182B">
                <a:alpha val="9000"/>
              </a:srgbClr>
            </a:outerShdw>
          </a:effectLst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713" name="num"/>
          <p:cNvSpPr/>
          <p:nvPr/>
        </p:nvSpPr>
        <p:spPr>
          <a:xfrm>
            <a:off x="9918700" y="2387600"/>
            <a:ext cx="584200" cy="584200"/>
          </a:xfrm>
          <a:prstGeom prst="ellipse">
            <a:avLst/>
          </a:prstGeom>
          <a:solidFill>
            <a:srgbClr val="FFCB0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800" b="1" dirty="0">
                <a:solidFill>
                  <a:srgbClr val="16182B"/>
                </a:solidFill>
                <a:latin typeface="Indosat Regular" pitchFamily="2" charset="77"/>
              </a:rPr>
              <a:t>4</a:t>
            </a:r>
          </a:p>
        </p:txBody>
      </p:sp>
      <p:sp>
        <p:nvSpPr>
          <p:cNvPr id="723" name="steptxt"/>
          <p:cNvSpPr/>
          <p:nvPr/>
        </p:nvSpPr>
        <p:spPr>
          <a:xfrm>
            <a:off x="9194800" y="3098800"/>
            <a:ext cx="2032000" cy="1676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US" sz="1800" b="1" dirty="0">
                <a:solidFill>
                  <a:srgbClr val="16182B"/>
                </a:solidFill>
                <a:latin typeface="Indosat Regular" pitchFamily="2" charset="77"/>
              </a:rPr>
              <a:t>Repeat</a:t>
            </a:r>
          </a:p>
          <a:p>
            <a:pPr algn="ctr">
              <a:spcBef>
                <a:spcPts val="600"/>
              </a:spcBef>
            </a:pPr>
            <a:r>
              <a:rPr lang="en-US" sz="1400" dirty="0">
                <a:solidFill>
                  <a:srgbClr val="2E3047"/>
                </a:solidFill>
                <a:latin typeface="Indosat Regular" pitchFamily="2" charset="77"/>
              </a:rPr>
              <a:t>It loops again — automatically, up to a safe limit</a:t>
            </a:r>
          </a:p>
        </p:txBody>
      </p:sp>
      <p:sp>
        <p:nvSpPr>
          <p:cNvPr id="760" name="banner"/>
          <p:cNvSpPr/>
          <p:nvPr/>
        </p:nvSpPr>
        <p:spPr>
          <a:xfrm>
            <a:off x="838200" y="5181600"/>
            <a:ext cx="10515600" cy="762000"/>
          </a:xfrm>
          <a:prstGeom prst="roundRect">
            <a:avLst>
              <a:gd name="adj" fmla="val 16000"/>
            </a:avLst>
          </a:prstGeom>
          <a:solidFill>
            <a:srgbClr val="E6F7F4"/>
          </a:solidFill>
          <a:ln>
            <a:noFill/>
          </a:ln>
        </p:spPr>
        <p:txBody>
          <a:bodyPr wrap="square" lIns="254000" rIns="254000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127A6E"/>
                </a:solidFill>
                <a:latin typeface="Indosat Regular" pitchFamily="2" charset="77"/>
              </a:rPr>
              <a:t>A change is kept only if it scores at least as well as the best so far — otherwise it is automatically rolled back.</a:t>
            </a:r>
          </a:p>
        </p:txBody>
      </p:sp>
    </p:spTree>
    <p:extLst>
      <p:ext uri="{BB962C8B-B14F-4D97-AF65-F5344CB8AC3E}">
        <p14:creationId xmlns:p14="http://schemas.microsoft.com/office/powerpoint/2010/main" val="2828061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0F630-6078-903C-14DA-8090E0331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latin typeface="Indosat Regular" pitchFamily="2" charset="77"/>
              </a:rPr>
              <a:t>Built-in safety &amp; governance</a:t>
            </a:r>
          </a:p>
        </p:txBody>
      </p:sp>
      <p:sp>
        <p:nvSpPr>
          <p:cNvPr id="800" name="gate"/>
          <p:cNvSpPr/>
          <p:nvPr/>
        </p:nvSpPr>
        <p:spPr>
          <a:xfrm>
            <a:off x="1079500" y="1676400"/>
            <a:ext cx="10033000" cy="558800"/>
          </a:xfrm>
          <a:prstGeom prst="roundRect">
            <a:avLst>
              <a:gd name="adj" fmla="val 20000"/>
            </a:avLst>
          </a:prstGeom>
          <a:solidFill>
            <a:srgbClr val="2E3047"/>
          </a:solidFill>
          <a:ln>
            <a:noFill/>
          </a:ln>
        </p:spPr>
        <p:txBody>
          <a:bodyPr wrap="square" lIns="177800" rIns="177800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Indosat Regular" pitchFamily="2" charset="77"/>
              </a:rPr>
              <a:t>Any change the AI proposes</a:t>
            </a:r>
          </a:p>
        </p:txBody>
      </p:sp>
      <p:sp>
        <p:nvSpPr>
          <p:cNvPr id="801" name="gate"/>
          <p:cNvSpPr/>
          <p:nvPr/>
        </p:nvSpPr>
        <p:spPr>
          <a:xfrm>
            <a:off x="1714500" y="2349500"/>
            <a:ext cx="8763000" cy="558800"/>
          </a:xfrm>
          <a:prstGeom prst="roundRect">
            <a:avLst>
              <a:gd name="adj" fmla="val 20000"/>
            </a:avLst>
          </a:prstGeom>
          <a:solidFill>
            <a:srgbClr val="EC008C"/>
          </a:solidFill>
          <a:ln>
            <a:noFill/>
          </a:ln>
        </p:spPr>
        <p:txBody>
          <a:bodyPr wrap="square" lIns="177800" rIns="177800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Indosat Regular" pitchFamily="2" charset="77"/>
              </a:rPr>
              <a:t>Scope gate — may touch only ONE validated function</a:t>
            </a:r>
          </a:p>
        </p:txBody>
      </p:sp>
      <p:sp>
        <p:nvSpPr>
          <p:cNvPr id="802" name="gate"/>
          <p:cNvSpPr/>
          <p:nvPr/>
        </p:nvSpPr>
        <p:spPr>
          <a:xfrm>
            <a:off x="2349500" y="3022600"/>
            <a:ext cx="7493000" cy="558800"/>
          </a:xfrm>
          <a:prstGeom prst="roundRect">
            <a:avLst>
              <a:gd name="adj" fmla="val 20000"/>
            </a:avLst>
          </a:prstGeom>
          <a:solidFill>
            <a:srgbClr val="C7158D"/>
          </a:solidFill>
          <a:ln>
            <a:noFill/>
          </a:ln>
        </p:spPr>
        <p:txBody>
          <a:bodyPr wrap="square" lIns="177800" rIns="177800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Indosat Regular" pitchFamily="2" charset="77"/>
              </a:rPr>
              <a:t>Code inspection — rejects imports, classes &amp; system access</a:t>
            </a:r>
          </a:p>
        </p:txBody>
      </p:sp>
      <p:sp>
        <p:nvSpPr>
          <p:cNvPr id="803" name="gate"/>
          <p:cNvSpPr/>
          <p:nvPr/>
        </p:nvSpPr>
        <p:spPr>
          <a:xfrm>
            <a:off x="2984500" y="3695700"/>
            <a:ext cx="6223000" cy="558800"/>
          </a:xfrm>
          <a:prstGeom prst="roundRect">
            <a:avLst>
              <a:gd name="adj" fmla="val 20000"/>
            </a:avLst>
          </a:prstGeom>
          <a:solidFill>
            <a:srgbClr val="EC008C"/>
          </a:solidFill>
          <a:ln>
            <a:noFill/>
          </a:ln>
        </p:spPr>
        <p:txBody>
          <a:bodyPr wrap="square" lIns="177800" rIns="177800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Indosat Regular" pitchFamily="2" charset="77"/>
              </a:rPr>
              <a:t>Safe execution — no files, no network, no shell</a:t>
            </a:r>
          </a:p>
        </p:txBody>
      </p:sp>
      <p:sp>
        <p:nvSpPr>
          <p:cNvPr id="804" name="gate"/>
          <p:cNvSpPr/>
          <p:nvPr/>
        </p:nvSpPr>
        <p:spPr>
          <a:xfrm>
            <a:off x="3619500" y="4368800"/>
            <a:ext cx="4953000" cy="558800"/>
          </a:xfrm>
          <a:prstGeom prst="roundRect">
            <a:avLst>
              <a:gd name="adj" fmla="val 20000"/>
            </a:avLst>
          </a:prstGeom>
          <a:solidFill>
            <a:srgbClr val="C7158D"/>
          </a:solidFill>
          <a:ln>
            <a:noFill/>
          </a:ln>
        </p:spPr>
        <p:txBody>
          <a:bodyPr wrap="square" lIns="177800" rIns="177800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Indosat Regular" pitchFamily="2" charset="77"/>
              </a:rPr>
              <a:t>Score gate — must perform as well or better</a:t>
            </a:r>
          </a:p>
        </p:txBody>
      </p:sp>
      <p:sp>
        <p:nvSpPr>
          <p:cNvPr id="820" name="approved"/>
          <p:cNvSpPr/>
          <p:nvPr/>
        </p:nvSpPr>
        <p:spPr>
          <a:xfrm>
            <a:off x="3937000" y="5118100"/>
            <a:ext cx="4318000" cy="609600"/>
          </a:xfrm>
          <a:prstGeom prst="roundRect">
            <a:avLst>
              <a:gd name="adj" fmla="val 50000"/>
            </a:avLst>
          </a:prstGeom>
          <a:solidFill>
            <a:srgbClr val="24BDAD"/>
          </a:solidFill>
          <a:ln>
            <a:noFill/>
          </a:ln>
        </p:spPr>
        <p:txBody>
          <a:bodyPr wrap="square" lIns="177800" rIns="177800" anchor="ctr">
            <a:normAutofit fontScale="77500" lnSpcReduction="20000"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Indosat Regular" pitchFamily="2" charset="77"/>
              </a:rPr>
              <a:t>Approved &amp; kept as new best — else rolled back</a:t>
            </a:r>
          </a:p>
        </p:txBody>
      </p:sp>
      <p:sp>
        <p:nvSpPr>
          <p:cNvPr id="821" name="caveat"/>
          <p:cNvSpPr/>
          <p:nvPr/>
        </p:nvSpPr>
        <p:spPr>
          <a:xfrm>
            <a:off x="838200" y="5829300"/>
            <a:ext cx="10515600" cy="381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400" i="1" dirty="0">
                <a:solidFill>
                  <a:srgbClr val="6A6C7A"/>
                </a:solidFill>
                <a:latin typeface="Indosat Regular" pitchFamily="2" charset="77"/>
              </a:rPr>
              <a:t>A strong safety constraint for experimentation — not a hardened production security boundary.</a:t>
            </a:r>
          </a:p>
        </p:txBody>
      </p:sp>
    </p:spTree>
    <p:extLst>
      <p:ext uri="{BB962C8B-B14F-4D97-AF65-F5344CB8AC3E}">
        <p14:creationId xmlns:p14="http://schemas.microsoft.com/office/powerpoint/2010/main" val="249653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D0E8F-F5E6-F388-5083-811546C79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latin typeface="Indosat Regular" pitchFamily="2" charset="77"/>
              </a:rPr>
              <a:t>Proven today: two working use cases</a:t>
            </a:r>
          </a:p>
        </p:txBody>
      </p:sp>
      <p:sp>
        <p:nvSpPr>
          <p:cNvPr id="600" name="s601"/>
          <p:cNvSpPr/>
          <p:nvPr/>
        </p:nvSpPr>
        <p:spPr>
          <a:xfrm>
            <a:off x="838200" y="2133600"/>
            <a:ext cx="5105400" cy="317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01" name="e602"/>
          <p:cNvSpPr/>
          <p:nvPr/>
        </p:nvSpPr>
        <p:spPr>
          <a:xfrm>
            <a:off x="1143000" y="2438400"/>
            <a:ext cx="711200" cy="711200"/>
          </a:xfrm>
          <a:prstGeom prst="ellipse">
            <a:avLst/>
          </a:prstGeom>
          <a:solidFill>
            <a:srgbClr val="24BDA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t603"/>
          <p:cNvSpPr/>
          <p:nvPr/>
        </p:nvSpPr>
        <p:spPr>
          <a:xfrm>
            <a:off x="2006600" y="2514600"/>
            <a:ext cx="3632200" cy="6096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n-US" sz="1900" b="1" dirty="0">
                <a:solidFill>
                  <a:srgbClr val="24BDAD"/>
                </a:solidFill>
              </a:rPr>
              <a:t>Indonesian customer support</a:t>
            </a:r>
          </a:p>
        </p:txBody>
      </p:sp>
      <p:sp>
        <p:nvSpPr>
          <p:cNvPr id="603" name="t604"/>
          <p:cNvSpPr/>
          <p:nvPr/>
        </p:nvSpPr>
        <p:spPr>
          <a:xfrm>
            <a:off x="1143000" y="3352800"/>
            <a:ext cx="4495800" cy="177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US" sz="1500" dirty="0">
                <a:solidFill>
                  <a:srgbClr val="2E3047"/>
                </a:solidFill>
              </a:rPr>
              <a:t>Answers real banking, fraud, and public-service questions — including Dukcapil/NIK and NPWP/DJP — and handles mixed Indonesian–English. Scored against a realistic scenario set.</a:t>
            </a:r>
          </a:p>
        </p:txBody>
      </p:sp>
      <p:sp>
        <p:nvSpPr>
          <p:cNvPr id="604" name="s605"/>
          <p:cNvSpPr/>
          <p:nvPr/>
        </p:nvSpPr>
        <p:spPr>
          <a:xfrm>
            <a:off x="6248400" y="2133600"/>
            <a:ext cx="5105400" cy="317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05" name="e606"/>
          <p:cNvSpPr/>
          <p:nvPr/>
        </p:nvSpPr>
        <p:spPr>
          <a:xfrm>
            <a:off x="6553200" y="2438400"/>
            <a:ext cx="711200" cy="711200"/>
          </a:xfrm>
          <a:prstGeom prst="ellipse">
            <a:avLst/>
          </a:prstGeom>
          <a:solidFill>
            <a:srgbClr val="EC008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t607"/>
          <p:cNvSpPr/>
          <p:nvPr/>
        </p:nvSpPr>
        <p:spPr>
          <a:xfrm>
            <a:off x="7416800" y="2514600"/>
            <a:ext cx="3632200" cy="6096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n-US" sz="1900" b="1" dirty="0">
                <a:solidFill>
                  <a:srgbClr val="EC008C"/>
                </a:solidFill>
              </a:rPr>
              <a:t>Code automation agent</a:t>
            </a:r>
          </a:p>
        </p:txBody>
      </p:sp>
      <p:sp>
        <p:nvSpPr>
          <p:cNvPr id="607" name="t608"/>
          <p:cNvSpPr/>
          <p:nvPr/>
        </p:nvSpPr>
        <p:spPr>
          <a:xfrm>
            <a:off x="6553200" y="3352800"/>
            <a:ext cx="4495800" cy="177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US" sz="1500" dirty="0">
                <a:solidFill>
                  <a:srgbClr val="2E3047"/>
                </a:solidFill>
              </a:rPr>
              <a:t>Writes and refines a phone-number normalizer, validated automatically against a full suite of unit tests.</a:t>
            </a:r>
          </a:p>
        </p:txBody>
      </p:sp>
      <p:sp>
        <p:nvSpPr>
          <p:cNvPr id="608" name="s609"/>
          <p:cNvSpPr/>
          <p:nvPr/>
        </p:nvSpPr>
        <p:spPr>
          <a:xfrm>
            <a:off x="838200" y="5537200"/>
            <a:ext cx="10515600" cy="660400"/>
          </a:xfrm>
          <a:prstGeom prst="roundRect">
            <a:avLst/>
          </a:prstGeom>
          <a:solidFill>
            <a:srgbClr val="F3F3F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t610"/>
          <p:cNvSpPr/>
          <p:nvPr/>
        </p:nvSpPr>
        <p:spPr>
          <a:xfrm>
            <a:off x="1143000" y="5537200"/>
            <a:ext cx="9906000" cy="660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400" dirty="0">
                <a:solidFill>
                  <a:srgbClr val="2E3047"/>
                </a:solidFill>
              </a:rPr>
              <a:t>An optional local LLM (Ollama, vLLM, llama.cpp) can suggest improvements — </a:t>
            </a:r>
            <a:r>
              <a:rPr lang="en-US" sz="1400" b="1" dirty="0">
                <a:solidFill>
                  <a:srgbClr val="EC008C"/>
                </a:solidFill>
              </a:rPr>
              <a:t>but is never required to run.</a:t>
            </a:r>
          </a:p>
        </p:txBody>
      </p:sp>
      <p:pic>
        <p:nvPicPr>
          <p:cNvPr id="610" name="Graphic 610" descr="support cha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82700" y="2578100"/>
            <a:ext cx="431800" cy="431800"/>
          </a:xfrm>
          <a:prstGeom prst="rect">
            <a:avLst/>
          </a:prstGeom>
        </p:spPr>
      </p:pic>
      <p:pic>
        <p:nvPicPr>
          <p:cNvPr id="611" name="Graphic 611" descr="code termin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92900" y="2578100"/>
            <a:ext cx="4318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911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39726-2325-2755-37FC-B1F12EEB3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latin typeface="Indosat Regular" pitchFamily="2" charset="77"/>
              </a:rPr>
              <a:t>No foreign model required — three modes</a:t>
            </a:r>
          </a:p>
        </p:txBody>
      </p:sp>
      <p:sp>
        <p:nvSpPr>
          <p:cNvPr id="620" name="s621"/>
          <p:cNvSpPr/>
          <p:nvPr/>
        </p:nvSpPr>
        <p:spPr>
          <a:xfrm>
            <a:off x="838200" y="2159000"/>
            <a:ext cx="3302000" cy="358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21" name="e622"/>
          <p:cNvSpPr/>
          <p:nvPr/>
        </p:nvSpPr>
        <p:spPr>
          <a:xfrm>
            <a:off x="2159000" y="2413000"/>
            <a:ext cx="660400" cy="660400"/>
          </a:xfrm>
          <a:prstGeom prst="ellipse">
            <a:avLst/>
          </a:prstGeom>
          <a:solidFill>
            <a:srgbClr val="24BDAD"/>
          </a:solidFill>
          <a:ln>
            <a:noFill/>
          </a:ln>
        </p:spPr>
        <p:txBody>
          <a:bodyPr anchor="ctr">
            <a:noAutofit/>
          </a:bodyPr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Indosat Regular" pitchFamily="2" charset="77"/>
              </a:rPr>
              <a:t>1</a:t>
            </a:r>
          </a:p>
        </p:txBody>
      </p:sp>
      <p:sp>
        <p:nvSpPr>
          <p:cNvPr id="622" name="t623"/>
          <p:cNvSpPr/>
          <p:nvPr/>
        </p:nvSpPr>
        <p:spPr>
          <a:xfrm>
            <a:off x="990600" y="3200400"/>
            <a:ext cx="2997200" cy="660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24BDAD"/>
                </a:solidFill>
                <a:latin typeface="Indosat Regular" pitchFamily="2" charset="77"/>
              </a:rPr>
              <a:t>No LLM at all</a:t>
            </a:r>
          </a:p>
        </p:txBody>
      </p:sp>
      <p:sp>
        <p:nvSpPr>
          <p:cNvPr id="623" name="t624"/>
          <p:cNvSpPr/>
          <p:nvPr/>
        </p:nvSpPr>
        <p:spPr>
          <a:xfrm>
            <a:off x="990600" y="3886200"/>
            <a:ext cx="2997200" cy="1168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US" sz="1400" dirty="0">
                <a:solidFill>
                  <a:srgbClr val="2E3047"/>
                </a:solidFill>
                <a:latin typeface="Indosat Regular" pitchFamily="2" charset="77"/>
              </a:rPr>
              <a:t>Deterministic, rule-based mutators. Ideal for narrow, well-defined coding tasks.</a:t>
            </a:r>
          </a:p>
        </p:txBody>
      </p:sp>
      <p:sp>
        <p:nvSpPr>
          <p:cNvPr id="624" name="e625"/>
          <p:cNvSpPr/>
          <p:nvPr/>
        </p:nvSpPr>
        <p:spPr>
          <a:xfrm>
            <a:off x="2120900" y="5257800"/>
            <a:ext cx="177800" cy="177800"/>
          </a:xfrm>
          <a:prstGeom prst="ellipse">
            <a:avLst/>
          </a:prstGeom>
          <a:solidFill>
            <a:srgbClr val="24BDAD"/>
          </a:solidFill>
          <a:ln>
            <a:noFill/>
          </a:ln>
        </p:spPr>
        <p:txBody>
          <a:bodyPr anchor="ctr">
            <a:noAutofit/>
          </a:bodyPr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25" name="e626"/>
          <p:cNvSpPr/>
          <p:nvPr/>
        </p:nvSpPr>
        <p:spPr>
          <a:xfrm>
            <a:off x="2400300" y="5257800"/>
            <a:ext cx="177800" cy="177800"/>
          </a:xfrm>
          <a:prstGeom prst="ellipse">
            <a:avLst/>
          </a:prstGeom>
          <a:solidFill>
            <a:srgbClr val="D8D8E0"/>
          </a:solidFill>
          <a:ln>
            <a:noFill/>
          </a:ln>
        </p:spPr>
        <p:txBody>
          <a:bodyPr anchor="ctr">
            <a:noAutofit/>
          </a:bodyPr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26" name="e627"/>
          <p:cNvSpPr/>
          <p:nvPr/>
        </p:nvSpPr>
        <p:spPr>
          <a:xfrm>
            <a:off x="2679700" y="5257800"/>
            <a:ext cx="177800" cy="177800"/>
          </a:xfrm>
          <a:prstGeom prst="ellipse">
            <a:avLst/>
          </a:prstGeom>
          <a:solidFill>
            <a:srgbClr val="D8D8E0"/>
          </a:solidFill>
          <a:ln>
            <a:noFill/>
          </a:ln>
        </p:spPr>
        <p:txBody>
          <a:bodyPr anchor="ctr">
            <a:noAutofit/>
          </a:bodyPr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27" name="t628"/>
          <p:cNvSpPr/>
          <p:nvPr/>
        </p:nvSpPr>
        <p:spPr>
          <a:xfrm>
            <a:off x="990600" y="4927600"/>
            <a:ext cx="2997200" cy="279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8A8A99"/>
                </a:solidFill>
                <a:latin typeface="Indosat Regular" pitchFamily="2" charset="77"/>
              </a:rPr>
              <a:t>Capability</a:t>
            </a:r>
          </a:p>
        </p:txBody>
      </p:sp>
      <p:sp>
        <p:nvSpPr>
          <p:cNvPr id="628" name="s629"/>
          <p:cNvSpPr/>
          <p:nvPr/>
        </p:nvSpPr>
        <p:spPr>
          <a:xfrm>
            <a:off x="4445000" y="2159000"/>
            <a:ext cx="3302000" cy="358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29" name="e630"/>
          <p:cNvSpPr/>
          <p:nvPr/>
        </p:nvSpPr>
        <p:spPr>
          <a:xfrm>
            <a:off x="5765800" y="2413000"/>
            <a:ext cx="660400" cy="660400"/>
          </a:xfrm>
          <a:prstGeom prst="ellipse">
            <a:avLst/>
          </a:prstGeom>
          <a:solidFill>
            <a:srgbClr val="C7158D"/>
          </a:solidFill>
          <a:ln>
            <a:noFill/>
          </a:ln>
        </p:spPr>
        <p:txBody>
          <a:bodyPr anchor="ctr">
            <a:noAutofit/>
          </a:bodyPr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Indosat Regular" pitchFamily="2" charset="77"/>
              </a:rPr>
              <a:t>2</a:t>
            </a:r>
          </a:p>
        </p:txBody>
      </p:sp>
      <p:sp>
        <p:nvSpPr>
          <p:cNvPr id="630" name="t631"/>
          <p:cNvSpPr/>
          <p:nvPr/>
        </p:nvSpPr>
        <p:spPr>
          <a:xfrm>
            <a:off x="4597400" y="3200400"/>
            <a:ext cx="2997200" cy="660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C7158D"/>
                </a:solidFill>
                <a:latin typeface="Indosat Regular" pitchFamily="2" charset="77"/>
              </a:rPr>
              <a:t>Local LLM only</a:t>
            </a:r>
          </a:p>
        </p:txBody>
      </p:sp>
      <p:sp>
        <p:nvSpPr>
          <p:cNvPr id="631" name="t632"/>
          <p:cNvSpPr/>
          <p:nvPr/>
        </p:nvSpPr>
        <p:spPr>
          <a:xfrm>
            <a:off x="4597400" y="3886200"/>
            <a:ext cx="2997200" cy="1168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US" sz="1400" dirty="0">
                <a:solidFill>
                  <a:srgbClr val="2E3047"/>
                </a:solidFill>
                <a:latin typeface="Indosat Regular" pitchFamily="2" charset="77"/>
              </a:rPr>
              <a:t>A model on your own server suggests changes. Your data never leaves the building.</a:t>
            </a:r>
          </a:p>
        </p:txBody>
      </p:sp>
      <p:sp>
        <p:nvSpPr>
          <p:cNvPr id="632" name="e633"/>
          <p:cNvSpPr/>
          <p:nvPr/>
        </p:nvSpPr>
        <p:spPr>
          <a:xfrm>
            <a:off x="5727700" y="5257800"/>
            <a:ext cx="177800" cy="177800"/>
          </a:xfrm>
          <a:prstGeom prst="ellipse">
            <a:avLst/>
          </a:prstGeom>
          <a:solidFill>
            <a:srgbClr val="C7158D"/>
          </a:solidFill>
          <a:ln>
            <a:noFill/>
          </a:ln>
        </p:spPr>
        <p:txBody>
          <a:bodyPr anchor="ctr">
            <a:noAutofit/>
          </a:bodyPr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33" name="e634"/>
          <p:cNvSpPr/>
          <p:nvPr/>
        </p:nvSpPr>
        <p:spPr>
          <a:xfrm>
            <a:off x="6007100" y="5257800"/>
            <a:ext cx="177800" cy="177800"/>
          </a:xfrm>
          <a:prstGeom prst="ellipse">
            <a:avLst/>
          </a:prstGeom>
          <a:solidFill>
            <a:srgbClr val="C7158D"/>
          </a:solidFill>
          <a:ln>
            <a:noFill/>
          </a:ln>
        </p:spPr>
        <p:txBody>
          <a:bodyPr anchor="ctr">
            <a:noAutofit/>
          </a:bodyPr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34" name="e635"/>
          <p:cNvSpPr/>
          <p:nvPr/>
        </p:nvSpPr>
        <p:spPr>
          <a:xfrm>
            <a:off x="6286500" y="5257800"/>
            <a:ext cx="177800" cy="177800"/>
          </a:xfrm>
          <a:prstGeom prst="ellipse">
            <a:avLst/>
          </a:prstGeom>
          <a:solidFill>
            <a:srgbClr val="D8D8E0"/>
          </a:solidFill>
          <a:ln>
            <a:noFill/>
          </a:ln>
        </p:spPr>
        <p:txBody>
          <a:bodyPr anchor="ctr">
            <a:noAutofit/>
          </a:bodyPr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35" name="t636"/>
          <p:cNvSpPr/>
          <p:nvPr/>
        </p:nvSpPr>
        <p:spPr>
          <a:xfrm>
            <a:off x="4597400" y="4927600"/>
            <a:ext cx="2997200" cy="279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8A8A99"/>
                </a:solidFill>
                <a:latin typeface="Indosat Regular" pitchFamily="2" charset="77"/>
              </a:rPr>
              <a:t>Capability</a:t>
            </a:r>
          </a:p>
        </p:txBody>
      </p:sp>
      <p:sp>
        <p:nvSpPr>
          <p:cNvPr id="636" name="s637"/>
          <p:cNvSpPr/>
          <p:nvPr/>
        </p:nvSpPr>
        <p:spPr>
          <a:xfrm>
            <a:off x="8051800" y="2159000"/>
            <a:ext cx="3302000" cy="358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37" name="e638"/>
          <p:cNvSpPr/>
          <p:nvPr/>
        </p:nvSpPr>
        <p:spPr>
          <a:xfrm>
            <a:off x="9372600" y="2413000"/>
            <a:ext cx="660400" cy="660400"/>
          </a:xfrm>
          <a:prstGeom prst="ellipse">
            <a:avLst/>
          </a:prstGeom>
          <a:solidFill>
            <a:srgbClr val="EC008C"/>
          </a:solidFill>
          <a:ln>
            <a:noFill/>
          </a:ln>
        </p:spPr>
        <p:txBody>
          <a:bodyPr anchor="ctr">
            <a:noAutofit/>
          </a:bodyPr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Indosat Regular" pitchFamily="2" charset="77"/>
              </a:rPr>
              <a:t>3</a:t>
            </a:r>
          </a:p>
        </p:txBody>
      </p:sp>
      <p:sp>
        <p:nvSpPr>
          <p:cNvPr id="638" name="t639"/>
          <p:cNvSpPr/>
          <p:nvPr/>
        </p:nvSpPr>
        <p:spPr>
          <a:xfrm>
            <a:off x="8204200" y="3200400"/>
            <a:ext cx="2997200" cy="660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EC008C"/>
                </a:solidFill>
                <a:latin typeface="Indosat Regular" pitchFamily="2" charset="77"/>
              </a:rPr>
              <a:t>Your own Indonesian SLM</a:t>
            </a:r>
          </a:p>
        </p:txBody>
      </p:sp>
      <p:sp>
        <p:nvSpPr>
          <p:cNvPr id="639" name="t640"/>
          <p:cNvSpPr/>
          <p:nvPr/>
        </p:nvSpPr>
        <p:spPr>
          <a:xfrm>
            <a:off x="8204200" y="3886200"/>
            <a:ext cx="2997200" cy="1168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n-US" sz="1400" dirty="0">
                <a:solidFill>
                  <a:srgbClr val="2E3047"/>
                </a:solidFill>
                <a:latin typeface="Indosat Regular" pitchFamily="2" charset="77"/>
              </a:rPr>
              <a:t>Fine-tune a small, sovereign model and serve it behind your own endpoint.</a:t>
            </a:r>
          </a:p>
        </p:txBody>
      </p:sp>
      <p:sp>
        <p:nvSpPr>
          <p:cNvPr id="640" name="e641"/>
          <p:cNvSpPr/>
          <p:nvPr/>
        </p:nvSpPr>
        <p:spPr>
          <a:xfrm>
            <a:off x="9334500" y="5257800"/>
            <a:ext cx="177800" cy="177800"/>
          </a:xfrm>
          <a:prstGeom prst="ellipse">
            <a:avLst/>
          </a:prstGeom>
          <a:solidFill>
            <a:srgbClr val="EC008C"/>
          </a:solidFill>
          <a:ln>
            <a:noFill/>
          </a:ln>
        </p:spPr>
        <p:txBody>
          <a:bodyPr anchor="ctr">
            <a:noAutofit/>
          </a:bodyPr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41" name="e642"/>
          <p:cNvSpPr/>
          <p:nvPr/>
        </p:nvSpPr>
        <p:spPr>
          <a:xfrm>
            <a:off x="9613900" y="5257800"/>
            <a:ext cx="177800" cy="177800"/>
          </a:xfrm>
          <a:prstGeom prst="ellipse">
            <a:avLst/>
          </a:prstGeom>
          <a:solidFill>
            <a:srgbClr val="EC008C"/>
          </a:solidFill>
          <a:ln>
            <a:noFill/>
          </a:ln>
        </p:spPr>
        <p:txBody>
          <a:bodyPr anchor="ctr">
            <a:noAutofit/>
          </a:bodyPr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42" name="e643"/>
          <p:cNvSpPr/>
          <p:nvPr/>
        </p:nvSpPr>
        <p:spPr>
          <a:xfrm>
            <a:off x="9893300" y="5257800"/>
            <a:ext cx="177800" cy="177800"/>
          </a:xfrm>
          <a:prstGeom prst="ellipse">
            <a:avLst/>
          </a:prstGeom>
          <a:solidFill>
            <a:srgbClr val="EC008C"/>
          </a:solidFill>
          <a:ln>
            <a:noFill/>
          </a:ln>
        </p:spPr>
        <p:txBody>
          <a:bodyPr anchor="ctr">
            <a:noAutofit/>
          </a:bodyPr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43" name="t644"/>
          <p:cNvSpPr/>
          <p:nvPr/>
        </p:nvSpPr>
        <p:spPr>
          <a:xfrm>
            <a:off x="8204200" y="4927600"/>
            <a:ext cx="2997200" cy="279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8A8A99"/>
                </a:solidFill>
                <a:latin typeface="Indosat Regular" pitchFamily="2" charset="77"/>
              </a:rPr>
              <a:t>Capability</a:t>
            </a:r>
          </a:p>
        </p:txBody>
      </p:sp>
      <p:sp>
        <p:nvSpPr>
          <p:cNvPr id="644" name="s645"/>
          <p:cNvSpPr/>
          <p:nvPr/>
        </p:nvSpPr>
        <p:spPr>
          <a:xfrm>
            <a:off x="838200" y="5918200"/>
            <a:ext cx="10515600" cy="635000"/>
          </a:xfrm>
          <a:prstGeom prst="roundRect">
            <a:avLst/>
          </a:prstGeom>
          <a:solidFill>
            <a:srgbClr val="EAF7F5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45" name="t646"/>
          <p:cNvSpPr/>
          <p:nvPr/>
        </p:nvSpPr>
        <p:spPr>
          <a:xfrm>
            <a:off x="1143000" y="5918200"/>
            <a:ext cx="9906000" cy="635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400" dirty="0">
                <a:solidFill>
                  <a:srgbClr val="2E3047"/>
                </a:solidFill>
                <a:latin typeface="Indosat Regular" pitchFamily="2" charset="77"/>
              </a:rPr>
              <a:t>In every mode, prompts and data stay inside your environment — </a:t>
            </a:r>
            <a:r>
              <a:rPr lang="en-US" sz="1400" b="1" dirty="0">
                <a:solidFill>
                  <a:srgbClr val="1C8C80"/>
                </a:solidFill>
                <a:latin typeface="Indosat Regular" pitchFamily="2" charset="77"/>
              </a:rPr>
              <a:t>no foreign model, ever.</a:t>
            </a:r>
          </a:p>
        </p:txBody>
      </p:sp>
    </p:spTree>
    <p:extLst>
      <p:ext uri="{BB962C8B-B14F-4D97-AF65-F5344CB8AC3E}">
        <p14:creationId xmlns:p14="http://schemas.microsoft.com/office/powerpoint/2010/main" val="3921319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C4127-A9F7-A9F7-DC45-B998A2323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latin typeface="Indosat Regular" pitchFamily="2" charset="77"/>
              </a:rPr>
              <a:t>Under the hood: four pluggable parts</a:t>
            </a:r>
          </a:p>
        </p:txBody>
      </p:sp>
      <p:sp>
        <p:nvSpPr>
          <p:cNvPr id="650" name="s651"/>
          <p:cNvSpPr/>
          <p:nvPr/>
        </p:nvSpPr>
        <p:spPr>
          <a:xfrm>
            <a:off x="838200" y="2006600"/>
            <a:ext cx="5105400" cy="177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51" name="b652"/>
          <p:cNvSpPr/>
          <p:nvPr/>
        </p:nvSpPr>
        <p:spPr>
          <a:xfrm>
            <a:off x="838200" y="2133600"/>
            <a:ext cx="127000" cy="1524000"/>
          </a:xfrm>
          <a:prstGeom prst="roundRect">
            <a:avLst>
              <a:gd name="adj" fmla="val 50000"/>
            </a:avLst>
          </a:prstGeom>
          <a:solidFill>
            <a:srgbClr val="24BDA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52" name="t653"/>
          <p:cNvSpPr/>
          <p:nvPr/>
        </p:nvSpPr>
        <p:spPr>
          <a:xfrm>
            <a:off x="1193800" y="2209800"/>
            <a:ext cx="3175000" cy="40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n-US" sz="1800" b="1" dirty="0">
                <a:solidFill>
                  <a:srgbClr val="16182B"/>
                </a:solidFill>
                <a:latin typeface="Indosat Regular" pitchFamily="2" charset="77"/>
              </a:rPr>
              <a:t>GodelAgent</a:t>
            </a:r>
          </a:p>
        </p:txBody>
      </p:sp>
      <p:sp>
        <p:nvSpPr>
          <p:cNvPr id="653" name="p654"/>
          <p:cNvSpPr/>
          <p:nvPr/>
        </p:nvSpPr>
        <p:spPr>
          <a:xfrm>
            <a:off x="4648200" y="2235200"/>
            <a:ext cx="1066800" cy="330200"/>
          </a:xfrm>
          <a:prstGeom prst="roundRect">
            <a:avLst>
              <a:gd name="adj" fmla="val 50000"/>
            </a:avLst>
          </a:prstGeom>
          <a:solidFill>
            <a:srgbClr val="24BDAD"/>
          </a:solidFill>
          <a:ln>
            <a:noFill/>
          </a:ln>
        </p:spPr>
        <p:txBody>
          <a:bodyPr anchor="ctr">
            <a:noAutofit/>
          </a:bodyPr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Indosat Regular" pitchFamily="2" charset="77"/>
              </a:rPr>
              <a:t>CORE</a:t>
            </a:r>
          </a:p>
        </p:txBody>
      </p:sp>
      <p:sp>
        <p:nvSpPr>
          <p:cNvPr id="654" name="t655"/>
          <p:cNvSpPr/>
          <p:nvPr/>
        </p:nvSpPr>
        <p:spPr>
          <a:xfrm>
            <a:off x="1193800" y="2717800"/>
            <a:ext cx="4521200" cy="939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US" sz="1400" dirty="0">
                <a:solidFill>
                  <a:srgbClr val="2E3047"/>
                </a:solidFill>
                <a:latin typeface="Indosat Regular" pitchFamily="2" charset="77"/>
              </a:rPr>
              <a:t>The engine: runs the loop, tracks the current and best version, and handles rollback.</a:t>
            </a:r>
          </a:p>
        </p:txBody>
      </p:sp>
      <p:sp>
        <p:nvSpPr>
          <p:cNvPr id="655" name="s656"/>
          <p:cNvSpPr/>
          <p:nvPr/>
        </p:nvSpPr>
        <p:spPr>
          <a:xfrm>
            <a:off x="6248400" y="2006600"/>
            <a:ext cx="5105400" cy="177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56" name="b657"/>
          <p:cNvSpPr/>
          <p:nvPr/>
        </p:nvSpPr>
        <p:spPr>
          <a:xfrm>
            <a:off x="6248400" y="2133600"/>
            <a:ext cx="127000" cy="1524000"/>
          </a:xfrm>
          <a:prstGeom prst="roundRect">
            <a:avLst>
              <a:gd name="adj" fmla="val 50000"/>
            </a:avLst>
          </a:prstGeom>
          <a:solidFill>
            <a:srgbClr val="EC008C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57" name="t658"/>
          <p:cNvSpPr/>
          <p:nvPr/>
        </p:nvSpPr>
        <p:spPr>
          <a:xfrm>
            <a:off x="6604000" y="2209800"/>
            <a:ext cx="3175000" cy="40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n-US" sz="1800" b="1" dirty="0">
                <a:solidFill>
                  <a:srgbClr val="16182B"/>
                </a:solidFill>
                <a:latin typeface="Indosat Regular" pitchFamily="2" charset="77"/>
              </a:rPr>
              <a:t>MutationProvider</a:t>
            </a:r>
          </a:p>
        </p:txBody>
      </p:sp>
      <p:sp>
        <p:nvSpPr>
          <p:cNvPr id="658" name="p659"/>
          <p:cNvSpPr/>
          <p:nvPr/>
        </p:nvSpPr>
        <p:spPr>
          <a:xfrm>
            <a:off x="10058400" y="2235200"/>
            <a:ext cx="1066800" cy="330200"/>
          </a:xfrm>
          <a:prstGeom prst="roundRect">
            <a:avLst>
              <a:gd name="adj" fmla="val 50000"/>
            </a:avLst>
          </a:prstGeom>
          <a:solidFill>
            <a:srgbClr val="EC008C"/>
          </a:solidFill>
          <a:ln>
            <a:noFill/>
          </a:ln>
        </p:spPr>
        <p:txBody>
          <a:bodyPr anchor="ctr">
            <a:noAutofit/>
          </a:bodyPr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Indosat Regular" pitchFamily="2" charset="77"/>
              </a:rPr>
              <a:t>PLUGGABLE</a:t>
            </a:r>
          </a:p>
        </p:txBody>
      </p:sp>
      <p:sp>
        <p:nvSpPr>
          <p:cNvPr id="659" name="t660"/>
          <p:cNvSpPr/>
          <p:nvPr/>
        </p:nvSpPr>
        <p:spPr>
          <a:xfrm>
            <a:off x="6604000" y="2717800"/>
            <a:ext cx="4521200" cy="939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US" sz="1400" dirty="0">
                <a:solidFill>
                  <a:srgbClr val="2E3047"/>
                </a:solidFill>
                <a:latin typeface="Indosat Regular" pitchFamily="2" charset="77"/>
              </a:rPr>
              <a:t>The “brain” that proposes changes — rule-based or a local LLM. Swap it freely.</a:t>
            </a:r>
          </a:p>
        </p:txBody>
      </p:sp>
      <p:sp>
        <p:nvSpPr>
          <p:cNvPr id="660" name="s661"/>
          <p:cNvSpPr/>
          <p:nvPr/>
        </p:nvSpPr>
        <p:spPr>
          <a:xfrm>
            <a:off x="838200" y="3962400"/>
            <a:ext cx="5105400" cy="177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61" name="b662"/>
          <p:cNvSpPr/>
          <p:nvPr/>
        </p:nvSpPr>
        <p:spPr>
          <a:xfrm>
            <a:off x="838200" y="4089400"/>
            <a:ext cx="127000" cy="1524000"/>
          </a:xfrm>
          <a:prstGeom prst="roundRect">
            <a:avLst>
              <a:gd name="adj" fmla="val 50000"/>
            </a:avLst>
          </a:prstGeom>
          <a:solidFill>
            <a:srgbClr val="C7158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62" name="t663"/>
          <p:cNvSpPr/>
          <p:nvPr/>
        </p:nvSpPr>
        <p:spPr>
          <a:xfrm>
            <a:off x="1193800" y="4165600"/>
            <a:ext cx="3175000" cy="40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n-US" sz="1800" b="1" dirty="0">
                <a:solidFill>
                  <a:srgbClr val="16182B"/>
                </a:solidFill>
                <a:latin typeface="Indosat Regular" pitchFamily="2" charset="77"/>
              </a:rPr>
              <a:t>Environment</a:t>
            </a:r>
          </a:p>
        </p:txBody>
      </p:sp>
      <p:sp>
        <p:nvSpPr>
          <p:cNvPr id="663" name="p664"/>
          <p:cNvSpPr/>
          <p:nvPr/>
        </p:nvSpPr>
        <p:spPr>
          <a:xfrm>
            <a:off x="4648200" y="4191000"/>
            <a:ext cx="1066800" cy="330200"/>
          </a:xfrm>
          <a:prstGeom prst="roundRect">
            <a:avLst>
              <a:gd name="adj" fmla="val 50000"/>
            </a:avLst>
          </a:prstGeom>
          <a:solidFill>
            <a:srgbClr val="C7158D"/>
          </a:solidFill>
          <a:ln>
            <a:noFill/>
          </a:ln>
        </p:spPr>
        <p:txBody>
          <a:bodyPr anchor="ctr">
            <a:noAutofit/>
          </a:bodyPr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Indosat Regular" pitchFamily="2" charset="77"/>
              </a:rPr>
              <a:t>PLUGGABLE</a:t>
            </a:r>
          </a:p>
        </p:txBody>
      </p:sp>
      <p:sp>
        <p:nvSpPr>
          <p:cNvPr id="664" name="t665"/>
          <p:cNvSpPr/>
          <p:nvPr/>
        </p:nvSpPr>
        <p:spPr>
          <a:xfrm>
            <a:off x="1193800" y="4673600"/>
            <a:ext cx="4521200" cy="939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US" sz="1400" dirty="0">
                <a:solidFill>
                  <a:srgbClr val="2E3047"/>
                </a:solidFill>
                <a:latin typeface="Indosat Regular" pitchFamily="2" charset="77"/>
              </a:rPr>
              <a:t>Defines the task and scores results — support scenarios, code tests, or a private holdout.</a:t>
            </a:r>
          </a:p>
        </p:txBody>
      </p:sp>
      <p:sp>
        <p:nvSpPr>
          <p:cNvPr id="665" name="s666"/>
          <p:cNvSpPr/>
          <p:nvPr/>
        </p:nvSpPr>
        <p:spPr>
          <a:xfrm>
            <a:off x="6248400" y="3962400"/>
            <a:ext cx="5105400" cy="177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66" name="b667"/>
          <p:cNvSpPr/>
          <p:nvPr/>
        </p:nvSpPr>
        <p:spPr>
          <a:xfrm>
            <a:off x="6248400" y="4089400"/>
            <a:ext cx="127000" cy="1524000"/>
          </a:xfrm>
          <a:prstGeom prst="roundRect">
            <a:avLst>
              <a:gd name="adj" fmla="val 50000"/>
            </a:avLst>
          </a:prstGeom>
          <a:solidFill>
            <a:srgbClr val="FFCB09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67" name="t668"/>
          <p:cNvSpPr/>
          <p:nvPr/>
        </p:nvSpPr>
        <p:spPr>
          <a:xfrm>
            <a:off x="6604000" y="4165600"/>
            <a:ext cx="3175000" cy="40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n-US" sz="1800" b="1" dirty="0">
                <a:solidFill>
                  <a:srgbClr val="16182B"/>
                </a:solidFill>
                <a:latin typeface="Indosat Regular" pitchFamily="2" charset="77"/>
              </a:rPr>
              <a:t>SafePolicyLoader</a:t>
            </a:r>
          </a:p>
        </p:txBody>
      </p:sp>
      <p:sp>
        <p:nvSpPr>
          <p:cNvPr id="668" name="p669"/>
          <p:cNvSpPr/>
          <p:nvPr/>
        </p:nvSpPr>
        <p:spPr>
          <a:xfrm>
            <a:off x="10058400" y="4191000"/>
            <a:ext cx="1066800" cy="330200"/>
          </a:xfrm>
          <a:prstGeom prst="roundRect">
            <a:avLst>
              <a:gd name="adj" fmla="val 50000"/>
            </a:avLst>
          </a:prstGeom>
          <a:solidFill>
            <a:srgbClr val="FFCB09"/>
          </a:solidFill>
          <a:ln>
            <a:noFill/>
          </a:ln>
        </p:spPr>
        <p:txBody>
          <a:bodyPr anchor="ctr">
            <a:noAutofit/>
          </a:bodyPr>
          <a:lstStyle/>
          <a:p>
            <a:pPr algn="ctr"/>
            <a:r>
              <a:rPr lang="en-US" sz="1000" b="1" dirty="0">
                <a:solidFill>
                  <a:srgbClr val="16182B"/>
                </a:solidFill>
                <a:latin typeface="Indosat Regular" pitchFamily="2" charset="77"/>
              </a:rPr>
              <a:t>GATE</a:t>
            </a:r>
          </a:p>
        </p:txBody>
      </p:sp>
      <p:sp>
        <p:nvSpPr>
          <p:cNvPr id="669" name="t670"/>
          <p:cNvSpPr/>
          <p:nvPr/>
        </p:nvSpPr>
        <p:spPr>
          <a:xfrm>
            <a:off x="6604000" y="4673600"/>
            <a:ext cx="4521200" cy="939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n-US" sz="1400" dirty="0">
                <a:solidFill>
                  <a:srgbClr val="2E3047"/>
                </a:solidFill>
                <a:latin typeface="Indosat Regular" pitchFamily="2" charset="77"/>
              </a:rPr>
              <a:t>The safety checkpoint: inspects every proposed change and blocks anything unsafe.</a:t>
            </a:r>
          </a:p>
        </p:txBody>
      </p:sp>
      <p:sp>
        <p:nvSpPr>
          <p:cNvPr id="670" name="s671"/>
          <p:cNvSpPr/>
          <p:nvPr/>
        </p:nvSpPr>
        <p:spPr>
          <a:xfrm>
            <a:off x="838200" y="5918200"/>
            <a:ext cx="10515600" cy="609600"/>
          </a:xfrm>
          <a:prstGeom prst="roundRect">
            <a:avLst/>
          </a:prstGeom>
          <a:solidFill>
            <a:srgbClr val="F3F3F8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71" name="t672"/>
          <p:cNvSpPr/>
          <p:nvPr/>
        </p:nvSpPr>
        <p:spPr>
          <a:xfrm>
            <a:off x="1143000" y="5918200"/>
            <a:ext cx="9906000" cy="6096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2E3047"/>
                </a:solidFill>
                <a:latin typeface="Indosat Regular" pitchFamily="2" charset="77"/>
              </a:rPr>
              <a:t>Pluggable by design — swap the brain or the task without ever touching the safety gate.</a:t>
            </a:r>
          </a:p>
        </p:txBody>
      </p:sp>
    </p:spTree>
    <p:extLst>
      <p:ext uri="{BB962C8B-B14F-4D97-AF65-F5344CB8AC3E}">
        <p14:creationId xmlns:p14="http://schemas.microsoft.com/office/powerpoint/2010/main" val="2659588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E3ABC-75A5-5B3C-0905-CE254E63C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Indosat Regular" pitchFamily="2" charset="77"/>
              </a:rPr>
              <a:t>The strategic prize: a sovereign Indonesian SLM</a:t>
            </a:r>
          </a:p>
        </p:txBody>
      </p:sp>
      <p:sp>
        <p:nvSpPr>
          <p:cNvPr id="600" name="card"/>
          <p:cNvSpPr/>
          <p:nvPr/>
        </p:nvSpPr>
        <p:spPr>
          <a:xfrm>
            <a:off x="838200" y="2006600"/>
            <a:ext cx="5105400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1" name="card"/>
          <p:cNvSpPr/>
          <p:nvPr/>
        </p:nvSpPr>
        <p:spPr>
          <a:xfrm>
            <a:off x="6248400" y="2006600"/>
            <a:ext cx="5105400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2" name="card"/>
          <p:cNvSpPr/>
          <p:nvPr/>
        </p:nvSpPr>
        <p:spPr>
          <a:xfrm>
            <a:off x="838200" y="2006600"/>
            <a:ext cx="5105400" cy="101600"/>
          </a:xfrm>
          <a:prstGeom prst="roundRect">
            <a:avLst>
              <a:gd name="adj" fmla="val 6000"/>
            </a:avLst>
          </a:prstGeom>
          <a:solidFill>
            <a:srgbClr val="24BDA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3" name="card"/>
          <p:cNvSpPr/>
          <p:nvPr/>
        </p:nvSpPr>
        <p:spPr>
          <a:xfrm>
            <a:off x="6248400" y="2006600"/>
            <a:ext cx="5105400" cy="101600"/>
          </a:xfrm>
          <a:prstGeom prst="roundRect">
            <a:avLst>
              <a:gd name="adj" fmla="val 6000"/>
            </a:avLst>
          </a:prstGeom>
          <a:solidFill>
            <a:srgbClr val="EC008C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4" name="ptxt"/>
          <p:cNvSpPr/>
          <p:nvPr/>
        </p:nvSpPr>
        <p:spPr>
          <a:xfrm>
            <a:off x="1117600" y="2260600"/>
            <a:ext cx="45466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4BDAD"/>
                </a:solidFill>
                <a:latin typeface="Indosat Regular" pitchFamily="2" charset="77"/>
              </a:rPr>
              <a:t>What the loop evolves</a:t>
            </a:r>
          </a:p>
          <a:p>
            <a:pPr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2E3047"/>
                </a:solidFill>
                <a:latin typeface="Indosat Regular" pitchFamily="2" charset="77"/>
              </a:rPr>
              <a:t>A structured training recipe — not just toy code: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6182B"/>
                </a:solidFill>
                <a:latin typeface="Indosat Regular" pitchFamily="2" charset="77"/>
              </a:rPr>
              <a:t>System prompt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6182B"/>
                </a:solidFill>
                <a:latin typeface="Indosat Regular" pitchFamily="2" charset="77"/>
              </a:rPr>
              <a:t>Retrieval (RAG) policy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6182B"/>
                </a:solidFill>
                <a:latin typeface="Indosat Regular" pitchFamily="2" charset="77"/>
              </a:rPr>
              <a:t>Training data mix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6182B"/>
                </a:solidFill>
                <a:latin typeface="Indosat Regular" pitchFamily="2" charset="77"/>
              </a:rPr>
              <a:t>LoRA fine-tuning config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6182B"/>
                </a:solidFill>
                <a:latin typeface="Indosat Regular" pitchFamily="2" charset="77"/>
              </a:rPr>
              <a:t>Safety &amp; refusal policy</a:t>
            </a:r>
          </a:p>
        </p:txBody>
      </p:sp>
      <p:sp>
        <p:nvSpPr>
          <p:cNvPr id="605" name="ptxt"/>
          <p:cNvSpPr/>
          <p:nvPr/>
        </p:nvSpPr>
        <p:spPr>
          <a:xfrm>
            <a:off x="6527800" y="2260600"/>
            <a:ext cx="45466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EC008C"/>
                </a:solidFill>
                <a:latin typeface="Indosat Regular" pitchFamily="2" charset="77"/>
              </a:rPr>
              <a:t>How every recipe is scored</a:t>
            </a:r>
          </a:p>
          <a:p>
            <a:pPr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2E3047"/>
                </a:solidFill>
                <a:latin typeface="Indosat Regular" pitchFamily="2" charset="77"/>
              </a:rPr>
              <a:t>On a private, held-out Indonesian benchmark: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6182B"/>
                </a:solidFill>
                <a:latin typeface="Indosat Regular" pitchFamily="2" charset="77"/>
              </a:rPr>
              <a:t>Instruction-following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6182B"/>
                </a:solidFill>
                <a:latin typeface="Indosat Regular" pitchFamily="2" charset="77"/>
              </a:rPr>
              <a:t>Factual accuracy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6182B"/>
                </a:solidFill>
                <a:latin typeface="Indosat Regular" pitchFamily="2" charset="77"/>
              </a:rPr>
              <a:t>Safety &amp; refusal behaviour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6182B"/>
                </a:solidFill>
                <a:latin typeface="Indosat Regular" pitchFamily="2" charset="77"/>
              </a:rPr>
              <a:t>Low hallucination rate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6182B"/>
                </a:solidFill>
                <a:latin typeface="Indosat Regular" pitchFamily="2" charset="77"/>
              </a:rPr>
              <a:t>Code-switching (ID / EN)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6182B"/>
                </a:solidFill>
                <a:latin typeface="Indosat Regular" pitchFamily="2" charset="77"/>
              </a:rPr>
              <a:t>Latency &amp; cost</a:t>
            </a:r>
          </a:p>
        </p:txBody>
      </p:sp>
    </p:spTree>
    <p:extLst>
      <p:ext uri="{BB962C8B-B14F-4D97-AF65-F5344CB8AC3E}">
        <p14:creationId xmlns:p14="http://schemas.microsoft.com/office/powerpoint/2010/main" val="1618396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B343A-8443-2FCD-1D47-3874A0EDE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latin typeface="Indosat Regular" pitchFamily="2" charset="77"/>
              </a:rPr>
              <a:t>Roadmap to production</a:t>
            </a:r>
          </a:p>
        </p:txBody>
      </p:sp>
      <p:sp>
        <p:nvSpPr>
          <p:cNvPr id="600" name="s"/>
          <p:cNvSpPr/>
          <p:nvPr/>
        </p:nvSpPr>
        <p:spPr>
          <a:xfrm>
            <a:off x="838200" y="2311400"/>
            <a:ext cx="3302000" cy="3251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1" name="s"/>
          <p:cNvSpPr/>
          <p:nvPr/>
        </p:nvSpPr>
        <p:spPr>
          <a:xfrm>
            <a:off x="838200" y="2311400"/>
            <a:ext cx="3302000" cy="736600"/>
          </a:xfrm>
          <a:prstGeom prst="roundRect">
            <a:avLst>
              <a:gd name="adj" fmla="val 5000"/>
            </a:avLst>
          </a:prstGeom>
          <a:solidFill>
            <a:srgbClr val="24BDA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2" name="s"/>
          <p:cNvSpPr/>
          <p:nvPr/>
        </p:nvSpPr>
        <p:spPr>
          <a:xfrm>
            <a:off x="838200" y="2819400"/>
            <a:ext cx="3302000" cy="254000"/>
          </a:xfrm>
          <a:prstGeom prst="roundRect">
            <a:avLst>
              <a:gd name="adj" fmla="val 6000"/>
            </a:avLst>
          </a:prstGeom>
          <a:solidFill>
            <a:srgbClr val="24BDA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3" name="t"/>
          <p:cNvSpPr/>
          <p:nvPr/>
        </p:nvSpPr>
        <p:spPr>
          <a:xfrm>
            <a:off x="838200" y="2413000"/>
            <a:ext cx="3302000" cy="635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Indosat Regular" pitchFamily="2" charset="77"/>
              </a:rPr>
              <a:t>Phase 1 · Today</a:t>
            </a:r>
          </a:p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Indosat Regular" pitchFamily="2" charset="77"/>
              </a:rPr>
              <a:t>Available now</a:t>
            </a:r>
          </a:p>
        </p:txBody>
      </p:sp>
      <p:sp>
        <p:nvSpPr>
          <p:cNvPr id="604" name="t"/>
          <p:cNvSpPr/>
          <p:nvPr/>
        </p:nvSpPr>
        <p:spPr>
          <a:xfrm>
            <a:off x="1041400" y="3225800"/>
            <a:ext cx="2895600" cy="22225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lang="en-US" sz="1400" dirty="0">
                <a:solidFill>
                  <a:srgbClr val="16182B"/>
                </a:solidFill>
                <a:latin typeface="Indosat Regular" pitchFamily="2" charset="77"/>
              </a:rPr>
              <a:t>Runs on any laptop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lang="en-US" sz="1400" dirty="0">
                <a:solidFill>
                  <a:srgbClr val="16182B"/>
                </a:solidFill>
                <a:latin typeface="Indosat Regular" pitchFamily="2" charset="77"/>
              </a:rPr>
              <a:t>Two working domains + smoke tests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lang="en-US" sz="1400" dirty="0">
                <a:solidFill>
                  <a:srgbClr val="16182B"/>
                </a:solidFill>
                <a:latin typeface="Indosat Regular" pitchFamily="2" charset="77"/>
              </a:rPr>
              <a:t>Python 3.10+, zero dependencies</a:t>
            </a:r>
          </a:p>
        </p:txBody>
      </p:sp>
      <p:sp>
        <p:nvSpPr>
          <p:cNvPr id="605" name="s"/>
          <p:cNvSpPr/>
          <p:nvPr/>
        </p:nvSpPr>
        <p:spPr>
          <a:xfrm>
            <a:off x="4445000" y="2311400"/>
            <a:ext cx="3302000" cy="3251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6" name="s"/>
          <p:cNvSpPr/>
          <p:nvPr/>
        </p:nvSpPr>
        <p:spPr>
          <a:xfrm>
            <a:off x="4445000" y="2311400"/>
            <a:ext cx="3302000" cy="736600"/>
          </a:xfrm>
          <a:prstGeom prst="roundRect">
            <a:avLst>
              <a:gd name="adj" fmla="val 5000"/>
            </a:avLst>
          </a:prstGeom>
          <a:solidFill>
            <a:srgbClr val="C7158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7" name="s"/>
          <p:cNvSpPr/>
          <p:nvPr/>
        </p:nvSpPr>
        <p:spPr>
          <a:xfrm>
            <a:off x="4445000" y="2819400"/>
            <a:ext cx="3302000" cy="254000"/>
          </a:xfrm>
          <a:prstGeom prst="roundRect">
            <a:avLst>
              <a:gd name="adj" fmla="val 6000"/>
            </a:avLst>
          </a:prstGeom>
          <a:solidFill>
            <a:srgbClr val="C7158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8" name="t"/>
          <p:cNvSpPr/>
          <p:nvPr/>
        </p:nvSpPr>
        <p:spPr>
          <a:xfrm>
            <a:off x="4445000" y="2413000"/>
            <a:ext cx="3302000" cy="635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Indosat Regular" pitchFamily="2" charset="77"/>
              </a:rPr>
              <a:t>Phase 2 · Pilot</a:t>
            </a:r>
          </a:p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Indosat Regular" pitchFamily="2" charset="77"/>
              </a:rPr>
              <a:t>Next</a:t>
            </a:r>
          </a:p>
        </p:txBody>
      </p:sp>
      <p:sp>
        <p:nvSpPr>
          <p:cNvPr id="609" name="t"/>
          <p:cNvSpPr/>
          <p:nvPr/>
        </p:nvSpPr>
        <p:spPr>
          <a:xfrm>
            <a:off x="4648200" y="3225800"/>
            <a:ext cx="2895600" cy="22225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lang="en-US" sz="1400" dirty="0">
                <a:solidFill>
                  <a:srgbClr val="16182B"/>
                </a:solidFill>
                <a:latin typeface="Indosat Regular" pitchFamily="2" charset="77"/>
              </a:rPr>
              <a:t>Point it at a local LLM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lang="en-US" sz="1400" dirty="0">
                <a:solidFill>
                  <a:srgbClr val="16182B"/>
                </a:solidFill>
                <a:latin typeface="Indosat Regular" pitchFamily="2" charset="77"/>
              </a:rPr>
              <a:t>Score on your real Indonesian eval sets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lang="en-US" sz="1400" dirty="0">
                <a:solidFill>
                  <a:srgbClr val="16182B"/>
                </a:solidFill>
                <a:latin typeface="Indosat Regular" pitchFamily="2" charset="77"/>
              </a:rPr>
              <a:t>Private holdout for honest measurement</a:t>
            </a:r>
          </a:p>
        </p:txBody>
      </p:sp>
      <p:sp>
        <p:nvSpPr>
          <p:cNvPr id="610" name="s"/>
          <p:cNvSpPr/>
          <p:nvPr/>
        </p:nvSpPr>
        <p:spPr>
          <a:xfrm>
            <a:off x="8051800" y="2311400"/>
            <a:ext cx="3302000" cy="3251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11" name="s"/>
          <p:cNvSpPr/>
          <p:nvPr/>
        </p:nvSpPr>
        <p:spPr>
          <a:xfrm>
            <a:off x="8051800" y="2311400"/>
            <a:ext cx="3302000" cy="736600"/>
          </a:xfrm>
          <a:prstGeom prst="roundRect">
            <a:avLst>
              <a:gd name="adj" fmla="val 5000"/>
            </a:avLst>
          </a:prstGeom>
          <a:solidFill>
            <a:srgbClr val="EC008C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12" name="s"/>
          <p:cNvSpPr/>
          <p:nvPr/>
        </p:nvSpPr>
        <p:spPr>
          <a:xfrm>
            <a:off x="8051800" y="2819400"/>
            <a:ext cx="3302000" cy="254000"/>
          </a:xfrm>
          <a:prstGeom prst="roundRect">
            <a:avLst>
              <a:gd name="adj" fmla="val 6000"/>
            </a:avLst>
          </a:prstGeom>
          <a:solidFill>
            <a:srgbClr val="EC008C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13" name="t"/>
          <p:cNvSpPr/>
          <p:nvPr/>
        </p:nvSpPr>
        <p:spPr>
          <a:xfrm>
            <a:off x="8051800" y="2413000"/>
            <a:ext cx="3302000" cy="635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Indosat Regular" pitchFamily="2" charset="77"/>
              </a:rPr>
              <a:t>Phase 3 · Production</a:t>
            </a:r>
          </a:p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Indosat Regular" pitchFamily="2" charset="77"/>
              </a:rPr>
              <a:t>Target</a:t>
            </a:r>
          </a:p>
        </p:txBody>
      </p:sp>
      <p:sp>
        <p:nvSpPr>
          <p:cNvPr id="614" name="t"/>
          <p:cNvSpPr/>
          <p:nvPr/>
        </p:nvSpPr>
        <p:spPr>
          <a:xfrm>
            <a:off x="8255000" y="3225800"/>
            <a:ext cx="2895600" cy="22225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lang="en-US" sz="1400" dirty="0">
                <a:solidFill>
                  <a:srgbClr val="16182B"/>
                </a:solidFill>
                <a:latin typeface="Indosat Regular" pitchFamily="2" charset="77"/>
              </a:rPr>
              <a:t>Fine-tune &amp; serve a sovereign SLM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lang="en-US" sz="1400" dirty="0">
                <a:solidFill>
                  <a:srgbClr val="16182B"/>
                </a:solidFill>
                <a:latin typeface="Indosat Regular" pitchFamily="2" charset="77"/>
              </a:rPr>
              <a:t>Isolated containers + signed snapshots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lang="en-US" sz="1400" dirty="0">
                <a:solidFill>
                  <a:srgbClr val="16182B"/>
                </a:solidFill>
                <a:latin typeface="Indosat Regular" pitchFamily="2" charset="77"/>
              </a:rPr>
              <a:t>Constrained edits + human review</a:t>
            </a:r>
          </a:p>
        </p:txBody>
      </p:sp>
      <p:sp>
        <p:nvSpPr>
          <p:cNvPr id="615" name="a"/>
          <p:cNvSpPr/>
          <p:nvPr/>
        </p:nvSpPr>
        <p:spPr>
          <a:xfrm>
            <a:off x="4165600" y="3810000"/>
            <a:ext cx="228600" cy="254000"/>
          </a:xfrm>
          <a:prstGeom prst="rightArrow">
            <a:avLst/>
          </a:prstGeom>
          <a:solidFill>
            <a:srgbClr val="BBBBC2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16" name="a"/>
          <p:cNvSpPr/>
          <p:nvPr/>
        </p:nvSpPr>
        <p:spPr>
          <a:xfrm>
            <a:off x="7772400" y="3810000"/>
            <a:ext cx="228600" cy="254000"/>
          </a:xfrm>
          <a:prstGeom prst="rightArrow">
            <a:avLst/>
          </a:prstGeom>
          <a:solidFill>
            <a:srgbClr val="BBBBC2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17" name="s"/>
          <p:cNvSpPr/>
          <p:nvPr/>
        </p:nvSpPr>
        <p:spPr>
          <a:xfrm>
            <a:off x="838200" y="5740400"/>
            <a:ext cx="10515600" cy="584200"/>
          </a:xfrm>
          <a:prstGeom prst="roundRect">
            <a:avLst>
              <a:gd name="adj" fmla="val 10000"/>
            </a:avLst>
          </a:prstGeom>
          <a:solidFill>
            <a:srgbClr val="EAF7F5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18" name="t"/>
          <p:cNvSpPr/>
          <p:nvPr/>
        </p:nvSpPr>
        <p:spPr>
          <a:xfrm>
            <a:off x="1143000" y="5740400"/>
            <a:ext cx="9906000" cy="584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1C8C80"/>
                </a:solidFill>
                <a:latin typeface="Indosat Regular" pitchFamily="2" charset="77"/>
              </a:rPr>
              <a:t>Every phase keeps the same safety gate and data-sovereignty guarantees.</a:t>
            </a:r>
          </a:p>
        </p:txBody>
      </p:sp>
    </p:spTree>
    <p:extLst>
      <p:ext uri="{BB962C8B-B14F-4D97-AF65-F5344CB8AC3E}">
        <p14:creationId xmlns:p14="http://schemas.microsoft.com/office/powerpoint/2010/main" val="1883041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347DC-D6F6-63B6-B1F1-A4F5CB89C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b="1">
                <a:latin typeface="Indosat Regular" pitchFamily="2" charset="77"/>
              </a:rPr>
              <a:t>Team &amp; infrastructure</a:t>
            </a:r>
          </a:p>
        </p:txBody>
      </p:sp>
      <p:sp>
        <p:nvSpPr>
          <p:cNvPr id="701" name="t701"/>
          <p:cNvSpPr txBox="1"/>
          <p:nvPr/>
        </p:nvSpPr>
        <p:spPr>
          <a:xfrm>
            <a:off x="838200" y="1905000"/>
            <a:ext cx="5105400" cy="381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n-US" sz="2000" b="1" dirty="0">
                <a:solidFill>
                  <a:srgbClr val="1B8A7E"/>
                </a:solidFill>
                <a:latin typeface="Indosat Regular" pitchFamily="2" charset="77"/>
              </a:rPr>
              <a:t>The team</a:t>
            </a:r>
          </a:p>
        </p:txBody>
      </p:sp>
      <p:sp>
        <p:nvSpPr>
          <p:cNvPr id="702" name="t702"/>
          <p:cNvSpPr txBox="1"/>
          <p:nvPr/>
        </p:nvSpPr>
        <p:spPr>
          <a:xfrm>
            <a:off x="6248400" y="1905000"/>
            <a:ext cx="5105400" cy="381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n-US" sz="2000" b="1" dirty="0">
                <a:solidFill>
                  <a:srgbClr val="EC008C"/>
                </a:solidFill>
                <a:latin typeface="Indosat Regular" pitchFamily="2" charset="77"/>
              </a:rPr>
              <a:t>Infrastructure by phase</a:t>
            </a:r>
          </a:p>
        </p:txBody>
      </p:sp>
      <p:sp>
        <p:nvSpPr>
          <p:cNvPr id="703" name="s703"/>
          <p:cNvSpPr/>
          <p:nvPr/>
        </p:nvSpPr>
        <p:spPr>
          <a:xfrm>
            <a:off x="6248400" y="2362200"/>
            <a:ext cx="5105400" cy="1193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704" name="st704"/>
          <p:cNvSpPr/>
          <p:nvPr/>
        </p:nvSpPr>
        <p:spPr>
          <a:xfrm>
            <a:off x="6248400" y="2362200"/>
            <a:ext cx="114300" cy="1193800"/>
          </a:xfrm>
          <a:prstGeom prst="roundRect">
            <a:avLst>
              <a:gd name="adj" fmla="val 50000"/>
            </a:avLst>
          </a:prstGeom>
          <a:solidFill>
            <a:srgbClr val="24BDA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705" name="t705"/>
          <p:cNvSpPr txBox="1"/>
          <p:nvPr/>
        </p:nvSpPr>
        <p:spPr>
          <a:xfrm>
            <a:off x="6553200" y="2476500"/>
            <a:ext cx="4572000" cy="3048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24BDAD"/>
                </a:solidFill>
                <a:latin typeface="Indosat Regular" pitchFamily="2" charset="77"/>
              </a:rPr>
              <a:t>Prototype — available now</a:t>
            </a:r>
          </a:p>
        </p:txBody>
      </p:sp>
      <p:sp>
        <p:nvSpPr>
          <p:cNvPr id="706" name="t706"/>
          <p:cNvSpPr txBox="1"/>
          <p:nvPr/>
        </p:nvSpPr>
        <p:spPr>
          <a:xfrm>
            <a:off x="6553200" y="2819400"/>
            <a:ext cx="4572000" cy="660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n-US" sz="1300" dirty="0">
                <a:solidFill>
                  <a:srgbClr val="2E3047"/>
                </a:solidFill>
                <a:latin typeface="Indosat Regular" pitchFamily="2" charset="77"/>
              </a:rPr>
              <a:t>Existing laptop / workstation · CPU only · Python 3.10+ with zero third-party dependencies</a:t>
            </a:r>
          </a:p>
        </p:txBody>
      </p:sp>
      <p:sp>
        <p:nvSpPr>
          <p:cNvPr id="707" name="s707"/>
          <p:cNvSpPr/>
          <p:nvPr/>
        </p:nvSpPr>
        <p:spPr>
          <a:xfrm>
            <a:off x="6248400" y="3708400"/>
            <a:ext cx="5105400" cy="1193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708" name="st708"/>
          <p:cNvSpPr/>
          <p:nvPr/>
        </p:nvSpPr>
        <p:spPr>
          <a:xfrm>
            <a:off x="6248400" y="3708400"/>
            <a:ext cx="114300" cy="1193800"/>
          </a:xfrm>
          <a:prstGeom prst="roundRect">
            <a:avLst>
              <a:gd name="adj" fmla="val 50000"/>
            </a:avLst>
          </a:prstGeom>
          <a:solidFill>
            <a:srgbClr val="C7158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709" name="t709"/>
          <p:cNvSpPr txBox="1"/>
          <p:nvPr/>
        </p:nvSpPr>
        <p:spPr>
          <a:xfrm>
            <a:off x="6553200" y="3822700"/>
            <a:ext cx="4572000" cy="3048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C7158D"/>
                </a:solidFill>
                <a:latin typeface="Indosat Regular" pitchFamily="2" charset="77"/>
              </a:rPr>
              <a:t>Pilot</a:t>
            </a:r>
          </a:p>
        </p:txBody>
      </p:sp>
      <p:sp>
        <p:nvSpPr>
          <p:cNvPr id="710" name="t710"/>
          <p:cNvSpPr txBox="1"/>
          <p:nvPr/>
        </p:nvSpPr>
        <p:spPr>
          <a:xfrm>
            <a:off x="6553200" y="4165600"/>
            <a:ext cx="4572000" cy="6604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n-US" sz="1300" dirty="0">
                <a:solidFill>
                  <a:srgbClr val="2E3047"/>
                </a:solidFill>
              </a:rPr>
              <a:t>Reuse an existing server + a repurposed / spare GPU — or a few on-demand cloud GPU hours · local LLM quantized to run on modest hardware</a:t>
            </a:r>
          </a:p>
        </p:txBody>
      </p:sp>
      <p:sp>
        <p:nvSpPr>
          <p:cNvPr id="711" name="s711"/>
          <p:cNvSpPr/>
          <p:nvPr/>
        </p:nvSpPr>
        <p:spPr>
          <a:xfrm>
            <a:off x="6248400" y="5054600"/>
            <a:ext cx="51054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712" name="st712"/>
          <p:cNvSpPr/>
          <p:nvPr/>
        </p:nvSpPr>
        <p:spPr>
          <a:xfrm>
            <a:off x="6248400" y="5054600"/>
            <a:ext cx="114300" cy="1371600"/>
          </a:xfrm>
          <a:prstGeom prst="roundRect">
            <a:avLst>
              <a:gd name="adj" fmla="val 50000"/>
            </a:avLst>
          </a:prstGeom>
          <a:solidFill>
            <a:srgbClr val="EC008C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713" name="t713"/>
          <p:cNvSpPr txBox="1"/>
          <p:nvPr/>
        </p:nvSpPr>
        <p:spPr>
          <a:xfrm>
            <a:off x="6553200" y="5168900"/>
            <a:ext cx="4572000" cy="3048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EC008C"/>
                </a:solidFill>
                <a:latin typeface="Indosat Regular" pitchFamily="2" charset="77"/>
              </a:rPr>
              <a:t>Production &amp; sovereign SLM</a:t>
            </a:r>
          </a:p>
        </p:txBody>
      </p:sp>
      <p:sp>
        <p:nvSpPr>
          <p:cNvPr id="714" name="t714"/>
          <p:cNvSpPr txBox="1"/>
          <p:nvPr/>
        </p:nvSpPr>
        <p:spPr>
          <a:xfrm>
            <a:off x="6553200" y="5511800"/>
            <a:ext cx="4572000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n-US" sz="1300" dirty="0">
                <a:solidFill>
                  <a:srgbClr val="2E3047"/>
                </a:solidFill>
              </a:rPr>
              <a:t>Reused servers, no dedicated cluster · LoRA fine-tune a small model on one owned or hourly-rented GPU · serve a quantized model on current hardware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7049CB7-0436-8E49-8F9C-907C48A85E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109596"/>
              </p:ext>
            </p:extLst>
          </p:nvPr>
        </p:nvGraphicFramePr>
        <p:xfrm>
          <a:off x="838200" y="2387600"/>
          <a:ext cx="5105400" cy="3809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7200">
                  <a:extLst>
                    <a:ext uri="{9D8B030D-6E8A-4147-A177-3AD203B41FA5}">
                      <a16:colId xmlns:a16="http://schemas.microsoft.com/office/drawing/2014/main" val="212059852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59077691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932733799"/>
                    </a:ext>
                  </a:extLst>
                </a:gridCol>
              </a:tblGrid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 anchor="ctr">
                    <a:solidFill>
                      <a:srgbClr val="1B8A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FTE</a:t>
                      </a:r>
                    </a:p>
                  </a:txBody>
                  <a:tcPr anchor="ctr">
                    <a:solidFill>
                      <a:srgbClr val="1B8A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 anchor="ctr">
                    <a:solidFill>
                      <a:srgbClr val="1B8A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4248964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ML / AI Engineer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Existing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9191210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Platform / Backend Engineer</a:t>
                      </a:r>
                    </a:p>
                  </a:txBody>
                  <a:tcPr anchor="ctr">
                    <a:solidFill>
                      <a:srgbClr val="F3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F3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Existing</a:t>
                      </a:r>
                    </a:p>
                  </a:txBody>
                  <a:tcPr anchor="ctr">
                    <a:solidFill>
                      <a:srgbClr val="F3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5183919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Domain &amp; Evaluation SME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0.3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Existing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1013509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Fine-tuning / ML Research</a:t>
                      </a:r>
                    </a:p>
                  </a:txBody>
                  <a:tcPr anchor="ctr">
                    <a:solidFill>
                      <a:srgbClr val="F3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F3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Upskill</a:t>
                      </a:r>
                    </a:p>
                  </a:txBody>
                  <a:tcPr anchor="ctr">
                    <a:solidFill>
                      <a:srgbClr val="F3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3079858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MLOps / Infrastructure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0.3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Existing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822974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Data Engineer</a:t>
                      </a:r>
                    </a:p>
                  </a:txBody>
                  <a:tcPr anchor="ctr">
                    <a:solidFill>
                      <a:srgbClr val="F3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0.3</a:t>
                      </a:r>
                    </a:p>
                  </a:txBody>
                  <a:tcPr anchor="ctr">
                    <a:solidFill>
                      <a:srgbClr val="F3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Existing</a:t>
                      </a:r>
                    </a:p>
                  </a:txBody>
                  <a:tcPr anchor="ctr">
                    <a:solidFill>
                      <a:srgbClr val="F3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7380224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Product / Project Lead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0.2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Existing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470696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16182B"/>
                          </a:solidFill>
                        </a:rPr>
                        <a:t>Peak (FTE-equivalent)</a:t>
                      </a:r>
                    </a:p>
                  </a:txBody>
                  <a:tcPr anchor="ctr"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 b="1">
                          <a:solidFill>
                            <a:srgbClr val="16182B"/>
                          </a:solidFill>
                        </a:rPr>
                        <a:t>≈2.6</a:t>
                      </a:r>
                    </a:p>
                  </a:txBody>
                  <a:tcPr anchor="ctr"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16182B"/>
                          </a:solidFill>
                        </a:rPr>
                        <a:t>Reallocated</a:t>
                      </a:r>
                    </a:p>
                  </a:txBody>
                  <a:tcPr anchor="ctr">
                    <a:solidFill>
                      <a:srgbClr val="E6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3771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40660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E3588-B947-F1EB-B509-4463CAC22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b="1">
                <a:latin typeface="Indosat Regular" pitchFamily="2" charset="77"/>
              </a:rPr>
              <a:t>Indicative investment</a:t>
            </a:r>
          </a:p>
        </p:txBody>
      </p:sp>
      <p:sp>
        <p:nvSpPr>
          <p:cNvPr id="801" name="callout"/>
          <p:cNvSpPr/>
          <p:nvPr/>
        </p:nvSpPr>
        <p:spPr>
          <a:xfrm>
            <a:off x="838200" y="4724400"/>
            <a:ext cx="10515600" cy="863600"/>
          </a:xfrm>
          <a:prstGeom prst="roundRect">
            <a:avLst>
              <a:gd name="adj" fmla="val 12000"/>
            </a:avLst>
          </a:prstGeom>
          <a:solidFill>
            <a:srgbClr val="16182B"/>
          </a:solidFill>
          <a:ln>
            <a:noFill/>
          </a:ln>
        </p:spPr>
        <p:txBody>
          <a:bodyPr wrap="square" anchor="ctr">
            <a:noAutofit/>
          </a:bodyPr>
          <a:lstStyle/>
          <a:p>
            <a:pPr algn="ctr"/>
            <a:r>
              <a:rPr lang="en-US" sz="1900" b="1" dirty="0">
                <a:solidFill>
                  <a:srgbClr val="FFFFFF"/>
                </a:solidFill>
                <a:latin typeface="Indosat Regular" pitchFamily="2" charset="77"/>
              </a:rPr>
              <a:t>Year-1 incremental investment ≈ Rp 300–600 million</a:t>
            </a:r>
          </a:p>
          <a:p>
            <a:pPr algn="ctr"/>
            <a:r>
              <a:rPr lang="en-US" sz="1400" dirty="0">
                <a:solidFill>
                  <a:srgbClr val="B8ECE6"/>
                </a:solidFill>
                <a:latin typeface="Indosat Regular" pitchFamily="2" charset="77"/>
              </a:rPr>
              <a:t>Reuse existing hardware  ·  rent GPU time by the hour only for short fine-tuning bursts  ·  no new cluster</a:t>
            </a:r>
          </a:p>
        </p:txBody>
      </p:sp>
      <p:sp>
        <p:nvSpPr>
          <p:cNvPr id="802" name="method"/>
          <p:cNvSpPr txBox="1"/>
          <p:nvPr/>
        </p:nvSpPr>
        <p:spPr>
          <a:xfrm>
            <a:off x="838200" y="5740400"/>
            <a:ext cx="10515600" cy="66040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lang="en-US" sz="1400" i="1" dirty="0">
                <a:solidFill>
                  <a:srgbClr val="5A5A6E"/>
                </a:solidFill>
                <a:latin typeface="Indosat Regular" pitchFamily="2" charset="77"/>
              </a:rPr>
              <a:t>*Illustrative reuse-first planning estimates (IDR). Team = existing staff reallocated part-time (~2.5 FTE-equivalent), not new hires. Infrastructure reuses current servers and workstations; fine-tuning uses an owned or hourly-rented GPU — no dedicated cluster. To be validated with IT and HR.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825C1D8-B0C7-9A42-AB36-1D60AB02EED0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59000"/>
          <a:ext cx="10515600" cy="215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766411108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760556109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21809139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813755034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1054505564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 anchor="ctr">
                    <a:solidFill>
                      <a:srgbClr val="1B8A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 anchor="ctr">
                    <a:solidFill>
                      <a:srgbClr val="1B8A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Team</a:t>
                      </a:r>
                    </a:p>
                  </a:txBody>
                  <a:tcPr anchor="ctr">
                    <a:solidFill>
                      <a:srgbClr val="1B8A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Infrastructure (reuse-first)</a:t>
                      </a:r>
                    </a:p>
                  </a:txBody>
                  <a:tcPr anchor="ctr">
                    <a:solidFill>
                      <a:srgbClr val="1B8A7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Investment (IDR)</a:t>
                      </a:r>
                    </a:p>
                  </a:txBody>
                  <a:tcPr anchor="ctr">
                    <a:solidFill>
                      <a:srgbClr val="1B8A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053177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1 · Prototype (now)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0–1 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Existing staff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Current laptops / workstations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 b="1">
                          <a:solidFill>
                            <a:srgbClr val="16182B"/>
                          </a:solidFill>
                        </a:rPr>
                        <a:t>Rp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797827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2 · Pilot</a:t>
                      </a:r>
                    </a:p>
                  </a:txBody>
                  <a:tcPr anchor="ctr">
                    <a:solidFill>
                      <a:srgbClr val="F3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3–4 mo</a:t>
                      </a:r>
                    </a:p>
                  </a:txBody>
                  <a:tcPr anchor="ctr">
                    <a:solidFill>
                      <a:srgbClr val="F3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≈1.5 FTE*</a:t>
                      </a:r>
                    </a:p>
                  </a:txBody>
                  <a:tcPr anchor="ctr">
                    <a:solidFill>
                      <a:srgbClr val="F3F3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Existing server + repurposed GPU / cloud hours</a:t>
                      </a:r>
                    </a:p>
                  </a:txBody>
                  <a:tcPr anchor="ctr">
                    <a:solidFill>
                      <a:srgbClr val="F3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 b="1">
                          <a:solidFill>
                            <a:srgbClr val="16182B"/>
                          </a:solidFill>
                        </a:rPr>
                        <a:t>Rp 50–150 M</a:t>
                      </a:r>
                    </a:p>
                  </a:txBody>
                  <a:tcPr anchor="ctr">
                    <a:solidFill>
                      <a:srgbClr val="F3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322824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3 · Production &amp; SLM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6–12 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≈2.5 FTE*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solidFill>
                            <a:srgbClr val="2E3047"/>
                          </a:solidFill>
                        </a:rPr>
                        <a:t>Reused servers; LoRA on one GPU (owned or rented)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 b="1">
                          <a:solidFill>
                            <a:srgbClr val="16182B"/>
                          </a:solidFill>
                        </a:rPr>
                        <a:t>Rp 200–400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405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19084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D41F-FF2D-8A68-6A11-9AA1CCE2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Indosat Regular" pitchFamily="2" charset="77"/>
              </a:rPr>
              <a:t>Business value &amp; the ask</a:t>
            </a:r>
          </a:p>
        </p:txBody>
      </p:sp>
      <p:sp>
        <p:nvSpPr>
          <p:cNvPr id="600" name="s"/>
          <p:cNvSpPr/>
          <p:nvPr/>
        </p:nvSpPr>
        <p:spPr>
          <a:xfrm>
            <a:off x="838200" y="2006600"/>
            <a:ext cx="2400300" cy="2260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1" name="e"/>
          <p:cNvSpPr/>
          <p:nvPr/>
        </p:nvSpPr>
        <p:spPr>
          <a:xfrm>
            <a:off x="1708150" y="2235200"/>
            <a:ext cx="660400" cy="660400"/>
          </a:xfrm>
          <a:prstGeom prst="ellipse">
            <a:avLst/>
          </a:prstGeom>
          <a:solidFill>
            <a:srgbClr val="24BDA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2" name="t"/>
          <p:cNvSpPr/>
          <p:nvPr/>
        </p:nvSpPr>
        <p:spPr>
          <a:xfrm>
            <a:off x="939800" y="3022600"/>
            <a:ext cx="2197100" cy="40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24BDAD"/>
                </a:solidFill>
                <a:latin typeface="Indosat Regular" pitchFamily="2" charset="77"/>
              </a:rPr>
              <a:t>Sovereign</a:t>
            </a:r>
          </a:p>
        </p:txBody>
      </p:sp>
      <p:sp>
        <p:nvSpPr>
          <p:cNvPr id="603" name="t"/>
          <p:cNvSpPr/>
          <p:nvPr/>
        </p:nvSpPr>
        <p:spPr>
          <a:xfrm>
            <a:off x="965200" y="3454400"/>
            <a:ext cx="2146300" cy="736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1350" b="0" dirty="0">
                <a:solidFill>
                  <a:srgbClr val="2E3047"/>
                </a:solidFill>
                <a:latin typeface="Indosat Regular" pitchFamily="2" charset="77"/>
              </a:rPr>
              <a:t>Data and models stay in your environment</a:t>
            </a:r>
          </a:p>
        </p:txBody>
      </p:sp>
      <p:sp>
        <p:nvSpPr>
          <p:cNvPr id="604" name="s"/>
          <p:cNvSpPr/>
          <p:nvPr/>
        </p:nvSpPr>
        <p:spPr>
          <a:xfrm>
            <a:off x="3543300" y="2006600"/>
            <a:ext cx="2400300" cy="2260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5" name="e"/>
          <p:cNvSpPr/>
          <p:nvPr/>
        </p:nvSpPr>
        <p:spPr>
          <a:xfrm>
            <a:off x="4413250" y="2235200"/>
            <a:ext cx="660400" cy="660400"/>
          </a:xfrm>
          <a:prstGeom prst="ellipse">
            <a:avLst/>
          </a:prstGeom>
          <a:solidFill>
            <a:srgbClr val="C7158D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6" name="t"/>
          <p:cNvSpPr/>
          <p:nvPr/>
        </p:nvSpPr>
        <p:spPr>
          <a:xfrm>
            <a:off x="3644900" y="3022600"/>
            <a:ext cx="2197100" cy="40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C7158D"/>
                </a:solidFill>
                <a:latin typeface="Indosat Regular" pitchFamily="2" charset="77"/>
              </a:rPr>
              <a:t>Safe &amp; auditable</a:t>
            </a:r>
          </a:p>
        </p:txBody>
      </p:sp>
      <p:sp>
        <p:nvSpPr>
          <p:cNvPr id="607" name="t"/>
          <p:cNvSpPr/>
          <p:nvPr/>
        </p:nvSpPr>
        <p:spPr>
          <a:xfrm>
            <a:off x="3670300" y="3454400"/>
            <a:ext cx="2146300" cy="736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1350" b="0" dirty="0">
                <a:solidFill>
                  <a:srgbClr val="2E3047"/>
                </a:solidFill>
                <a:latin typeface="Indosat Regular" pitchFamily="2" charset="77"/>
              </a:rPr>
              <a:t>Every change is gated and reversible</a:t>
            </a:r>
          </a:p>
        </p:txBody>
      </p:sp>
      <p:sp>
        <p:nvSpPr>
          <p:cNvPr id="608" name="s"/>
          <p:cNvSpPr/>
          <p:nvPr/>
        </p:nvSpPr>
        <p:spPr>
          <a:xfrm>
            <a:off x="6248400" y="2006600"/>
            <a:ext cx="2400300" cy="2260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09" name="e"/>
          <p:cNvSpPr/>
          <p:nvPr/>
        </p:nvSpPr>
        <p:spPr>
          <a:xfrm>
            <a:off x="7118350" y="2235200"/>
            <a:ext cx="660400" cy="660400"/>
          </a:xfrm>
          <a:prstGeom prst="ellipse">
            <a:avLst/>
          </a:prstGeom>
          <a:solidFill>
            <a:srgbClr val="EC008C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10" name="t"/>
          <p:cNvSpPr/>
          <p:nvPr/>
        </p:nvSpPr>
        <p:spPr>
          <a:xfrm>
            <a:off x="6350000" y="3022600"/>
            <a:ext cx="2197100" cy="40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EC008C"/>
                </a:solidFill>
                <a:latin typeface="Indosat Regular" pitchFamily="2" charset="77"/>
              </a:rPr>
              <a:t>Low cost</a:t>
            </a:r>
          </a:p>
        </p:txBody>
      </p:sp>
      <p:sp>
        <p:nvSpPr>
          <p:cNvPr id="611" name="t"/>
          <p:cNvSpPr/>
          <p:nvPr/>
        </p:nvSpPr>
        <p:spPr>
          <a:xfrm>
            <a:off x="6375400" y="3454400"/>
            <a:ext cx="2146300" cy="736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1350" b="0" dirty="0">
                <a:solidFill>
                  <a:srgbClr val="2E3047"/>
                </a:solidFill>
                <a:latin typeface="Indosat Regular" pitchFamily="2" charset="77"/>
              </a:rPr>
              <a:t>No dependencies, no per-call fees</a:t>
            </a:r>
          </a:p>
        </p:txBody>
      </p:sp>
      <p:sp>
        <p:nvSpPr>
          <p:cNvPr id="612" name="s"/>
          <p:cNvSpPr/>
          <p:nvPr/>
        </p:nvSpPr>
        <p:spPr>
          <a:xfrm>
            <a:off x="8953500" y="2006600"/>
            <a:ext cx="2400300" cy="2260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2EA"/>
            </a:solidFill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13" name="e"/>
          <p:cNvSpPr/>
          <p:nvPr/>
        </p:nvSpPr>
        <p:spPr>
          <a:xfrm>
            <a:off x="9823450" y="2235200"/>
            <a:ext cx="660400" cy="660400"/>
          </a:xfrm>
          <a:prstGeom prst="ellipse">
            <a:avLst/>
          </a:prstGeom>
          <a:solidFill>
            <a:srgbClr val="FFCB09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14" name="t"/>
          <p:cNvSpPr/>
          <p:nvPr/>
        </p:nvSpPr>
        <p:spPr>
          <a:xfrm>
            <a:off x="9055100" y="3022600"/>
            <a:ext cx="2197100" cy="40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16182B"/>
                </a:solidFill>
                <a:latin typeface="Indosat Regular" pitchFamily="2" charset="77"/>
              </a:rPr>
              <a:t>Scalable capability</a:t>
            </a:r>
          </a:p>
        </p:txBody>
      </p:sp>
      <p:sp>
        <p:nvSpPr>
          <p:cNvPr id="615" name="t"/>
          <p:cNvSpPr/>
          <p:nvPr/>
        </p:nvSpPr>
        <p:spPr>
          <a:xfrm>
            <a:off x="9080500" y="3454400"/>
            <a:ext cx="2146300" cy="736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1350" b="0" dirty="0">
                <a:solidFill>
                  <a:srgbClr val="2E3047"/>
                </a:solidFill>
                <a:latin typeface="Indosat Regular" pitchFamily="2" charset="77"/>
              </a:rPr>
              <a:t>A clear path to a tuned Indonesian SLM</a:t>
            </a:r>
          </a:p>
        </p:txBody>
      </p:sp>
      <p:sp>
        <p:nvSpPr>
          <p:cNvPr id="616" name="s"/>
          <p:cNvSpPr/>
          <p:nvPr/>
        </p:nvSpPr>
        <p:spPr>
          <a:xfrm>
            <a:off x="838200" y="4470400"/>
            <a:ext cx="10515600" cy="2006600"/>
          </a:xfrm>
          <a:prstGeom prst="roundRect">
            <a:avLst>
              <a:gd name="adj" fmla="val 4000"/>
            </a:avLst>
          </a:prstGeom>
          <a:solidFill>
            <a:srgbClr val="16182B"/>
          </a:solidFill>
          <a:ln>
            <a:noFill/>
          </a:ln>
        </p:spPr>
        <p:txBody>
          <a:bodyPr/>
          <a:lstStyle/>
          <a:p>
            <a:endParaRPr>
              <a:latin typeface="Indosat Regular" pitchFamily="2" charset="77"/>
            </a:endParaRPr>
          </a:p>
        </p:txBody>
      </p:sp>
      <p:sp>
        <p:nvSpPr>
          <p:cNvPr id="617" name="t"/>
          <p:cNvSpPr/>
          <p:nvPr/>
        </p:nvSpPr>
        <p:spPr>
          <a:xfrm>
            <a:off x="1168400" y="4673600"/>
            <a:ext cx="9652000" cy="381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buNone/>
            </a:pPr>
            <a:r>
              <a:rPr lang="en-US" sz="1900" b="1" dirty="0">
                <a:solidFill>
                  <a:srgbClr val="FFFFFF"/>
                </a:solidFill>
                <a:latin typeface="Indosat Regular" pitchFamily="2" charset="77"/>
              </a:rPr>
              <a:t>The ask — three next steps</a:t>
            </a:r>
          </a:p>
        </p:txBody>
      </p:sp>
      <p:sp>
        <p:nvSpPr>
          <p:cNvPr id="618" name="n"/>
          <p:cNvSpPr/>
          <p:nvPr/>
        </p:nvSpPr>
        <p:spPr>
          <a:xfrm>
            <a:off x="1168400" y="5232400"/>
            <a:ext cx="431800" cy="431800"/>
          </a:xfrm>
          <a:prstGeom prst="ellipse">
            <a:avLst/>
          </a:prstGeom>
          <a:solidFill>
            <a:srgbClr val="24BDAD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500" b="1" dirty="0">
                <a:solidFill>
                  <a:srgbClr val="16182B"/>
                </a:solidFill>
                <a:latin typeface="Indosat Regular" pitchFamily="2" charset="77"/>
              </a:rPr>
              <a:t>1</a:t>
            </a:r>
          </a:p>
        </p:txBody>
      </p:sp>
      <p:sp>
        <p:nvSpPr>
          <p:cNvPr id="619" name="t"/>
          <p:cNvSpPr/>
          <p:nvPr/>
        </p:nvSpPr>
        <p:spPr>
          <a:xfrm>
            <a:off x="1727200" y="5207000"/>
            <a:ext cx="2590800" cy="1092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buNone/>
            </a:pPr>
            <a:r>
              <a:rPr lang="en-US" sz="1450" b="0" dirty="0">
                <a:solidFill>
                  <a:srgbClr val="FFFFFF"/>
                </a:solidFill>
                <a:latin typeface="Indosat Regular" pitchFamily="2" charset="77"/>
              </a:rPr>
              <a:t>Run the demos this week — one command, no setup</a:t>
            </a:r>
          </a:p>
        </p:txBody>
      </p:sp>
      <p:sp>
        <p:nvSpPr>
          <p:cNvPr id="620" name="n"/>
          <p:cNvSpPr/>
          <p:nvPr/>
        </p:nvSpPr>
        <p:spPr>
          <a:xfrm>
            <a:off x="4648200" y="5232400"/>
            <a:ext cx="431800" cy="431800"/>
          </a:xfrm>
          <a:prstGeom prst="ellipse">
            <a:avLst/>
          </a:prstGeom>
          <a:solidFill>
            <a:srgbClr val="EC008C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500" b="1" dirty="0">
                <a:solidFill>
                  <a:srgbClr val="16182B"/>
                </a:solidFill>
                <a:latin typeface="Indosat Regular" pitchFamily="2" charset="77"/>
              </a:rPr>
              <a:t>2</a:t>
            </a:r>
          </a:p>
        </p:txBody>
      </p:sp>
      <p:sp>
        <p:nvSpPr>
          <p:cNvPr id="621" name="t"/>
          <p:cNvSpPr/>
          <p:nvPr/>
        </p:nvSpPr>
        <p:spPr>
          <a:xfrm>
            <a:off x="5207000" y="5207000"/>
            <a:ext cx="2590800" cy="1092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buNone/>
            </a:pPr>
            <a:r>
              <a:rPr lang="en-US" sz="1450" b="0" dirty="0">
                <a:solidFill>
                  <a:srgbClr val="FFFFFF"/>
                </a:solidFill>
                <a:latin typeface="Indosat Regular" pitchFamily="2" charset="77"/>
              </a:rPr>
              <a:t>Pilot against your real Indonesian eval sets</a:t>
            </a:r>
          </a:p>
        </p:txBody>
      </p:sp>
      <p:sp>
        <p:nvSpPr>
          <p:cNvPr id="622" name="n"/>
          <p:cNvSpPr/>
          <p:nvPr/>
        </p:nvSpPr>
        <p:spPr>
          <a:xfrm>
            <a:off x="8128000" y="5232400"/>
            <a:ext cx="431800" cy="431800"/>
          </a:xfrm>
          <a:prstGeom prst="ellipse">
            <a:avLst/>
          </a:prstGeom>
          <a:solidFill>
            <a:srgbClr val="FFCB0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500" b="1" dirty="0">
                <a:solidFill>
                  <a:srgbClr val="16182B"/>
                </a:solidFill>
                <a:latin typeface="Indosat Regular" pitchFamily="2" charset="77"/>
              </a:rPr>
              <a:t>3</a:t>
            </a:r>
          </a:p>
        </p:txBody>
      </p:sp>
      <p:sp>
        <p:nvSpPr>
          <p:cNvPr id="623" name="t"/>
          <p:cNvSpPr/>
          <p:nvPr/>
        </p:nvSpPr>
        <p:spPr>
          <a:xfrm>
            <a:off x="8686800" y="5207000"/>
            <a:ext cx="2616200" cy="1092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buNone/>
            </a:pPr>
            <a:r>
              <a:rPr lang="en-US" sz="1450" b="0" dirty="0">
                <a:solidFill>
                  <a:srgbClr val="FFFFFF"/>
                </a:solidFill>
                <a:latin typeface="Indosat Regular" pitchFamily="2" charset="77"/>
              </a:rPr>
              <a:t>Green-light the sovereign SLM track</a:t>
            </a:r>
          </a:p>
        </p:txBody>
      </p:sp>
      <p:pic>
        <p:nvPicPr>
          <p:cNvPr id="624" name="Graphic 624" descr="Sovereign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35150" y="2362200"/>
            <a:ext cx="406400" cy="406400"/>
          </a:xfrm>
          <a:prstGeom prst="rect">
            <a:avLst/>
          </a:prstGeom>
        </p:spPr>
      </p:pic>
      <p:pic>
        <p:nvPicPr>
          <p:cNvPr id="625" name="Graphic 625" descr="Saf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40250" y="2362200"/>
            <a:ext cx="406400" cy="406400"/>
          </a:xfrm>
          <a:prstGeom prst="rect">
            <a:avLst/>
          </a:prstGeom>
        </p:spPr>
      </p:pic>
      <p:pic>
        <p:nvPicPr>
          <p:cNvPr id="626" name="Graphic 626" descr="Low cos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45350" y="2362200"/>
            <a:ext cx="406400" cy="406400"/>
          </a:xfrm>
          <a:prstGeom prst="rect">
            <a:avLst/>
          </a:prstGeom>
        </p:spPr>
      </p:pic>
      <p:pic>
        <p:nvPicPr>
          <p:cNvPr id="627" name="Graphic 627" descr="Capabi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50450" y="2362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292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2877442248]">
  <a:themeElements>
    <a:clrScheme name="Office">
      <a:dk1>
        <a:srgbClr val="16182B"/>
      </a:dk1>
      <a:lt1>
        <a:srgbClr val="FFFFFF"/>
      </a:lt1>
      <a:dk2>
        <a:srgbClr val="2E3047"/>
      </a:dk2>
      <a:lt2>
        <a:srgbClr val="F3F3F8"/>
      </a:lt2>
      <a:accent1>
        <a:srgbClr val="EC008C"/>
      </a:accent1>
      <a:accent2>
        <a:srgbClr val="24BDAD"/>
      </a:accent2>
      <a:accent3>
        <a:srgbClr val="FFCB09"/>
      </a:accent3>
      <a:accent4>
        <a:srgbClr val="C7158D"/>
      </a:accent4>
      <a:accent5>
        <a:srgbClr val="EE1C24"/>
      </a:accent5>
      <a:accent6>
        <a:srgbClr val="24BDAD"/>
      </a:accent6>
      <a:hlink>
        <a:srgbClr val="467886"/>
      </a:hlink>
      <a:folHlink>
        <a:srgbClr val="96607D"/>
      </a:folHlink>
    </a:clrScheme>
    <a:fontScheme name="Office">
      <a:majorFont>
        <a:latin typeface="Montserra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67D1646-B969-1241-80FE-507A9F8896B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78ff5a09-a679-47db-a0a4-bec9d1a2c55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1214</Words>
  <Application>Microsoft Macintosh PowerPoint</Application>
  <PresentationFormat>Widescreen</PresentationFormat>
  <Paragraphs>195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Indosat Bold Bold</vt:lpstr>
      <vt:lpstr>Indosat Regular</vt:lpstr>
      <vt:lpstr>Montserrat</vt:lpstr>
      <vt:lpstr>Segoe UI</vt:lpstr>
      <vt:lpstr>Office Theme [1782877442248]</vt:lpstr>
      <vt:lpstr>Constrained Gödel-Agent Prototype</vt:lpstr>
      <vt:lpstr>Executive summary</vt:lpstr>
      <vt:lpstr>The problem we're solving</vt:lpstr>
      <vt:lpstr>Our solution, in plain terms</vt:lpstr>
      <vt:lpstr>How it works — a self-improvement loop</vt:lpstr>
      <vt:lpstr>Built-in safety &amp; governance</vt:lpstr>
      <vt:lpstr>Proven today: two working use cases</vt:lpstr>
      <vt:lpstr>No foreign model required — three modes</vt:lpstr>
      <vt:lpstr>Under the hood: four pluggable parts</vt:lpstr>
      <vt:lpstr>The strategic prize: a sovereign Indonesian SLM</vt:lpstr>
      <vt:lpstr>Roadmap to production</vt:lpstr>
      <vt:lpstr>Team &amp; infrastructure</vt:lpstr>
      <vt:lpstr>Indicative investment</vt:lpstr>
      <vt:lpstr>Business value &amp; the ask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Raditio Ghifiardi</dc:creator>
  <cp:lastModifiedBy>Raditio Ghifiardi</cp:lastModifiedBy>
  <cp:revision>7</cp:revision>
  <dcterms:created xsi:type="dcterms:W3CDTF">2026-07-01T03:39:59Z</dcterms:created>
  <dcterms:modified xsi:type="dcterms:W3CDTF">2026-07-01T04:34:52Z</dcterms:modified>
</cp:coreProperties>
</file>