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1" r:id="rId2"/>
    <p:sldId id="275" r:id="rId3"/>
    <p:sldId id="279" r:id="rId4"/>
    <p:sldId id="280" r:id="rId5"/>
    <p:sldId id="281" r:id="rId6"/>
    <p:sldId id="282" r:id="rId7"/>
    <p:sldId id="285" r:id="rId8"/>
    <p:sldId id="286" r:id="rId9"/>
    <p:sldId id="287" r:id="rId10"/>
    <p:sldId id="288" r:id="rId11"/>
    <p:sldId id="289" r:id="rId12"/>
    <p:sldId id="311" r:id="rId13"/>
    <p:sldId id="315" r:id="rId14"/>
    <p:sldId id="29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96"/>
    <p:restoredTop sz="94678"/>
  </p:normalViewPr>
  <p:slideViewPr>
    <p:cSldViewPr snapToGrid="0">
      <p:cViewPr varScale="1">
        <p:scale>
          <a:sx n="87" d="100"/>
          <a:sy n="87" d="100"/>
        </p:scale>
        <p:origin x="22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2287-7042-7B5A-202F-6FCFEA3A4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5F081-CE19-610F-ACFA-61D4E1536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8E216-C98F-4D67-04AE-F61D2DE4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F89FE-B21A-1721-0A35-AF1022B2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FF8D-CB2F-E569-7A54-3675D026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5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BE8B-9D9A-A811-5520-E4635293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40669-CB69-EF97-1C11-6C24D7995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3E120-FB41-E0EF-3034-B5157C3AC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09E58-7AE9-953F-DD31-EF259EB7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330AA-C9DF-8665-A077-D23DE3A3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6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C3BF-4D04-BC01-A7A3-325E6FE4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1D9CF-0C0F-25C7-9579-1C5CD9CD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61861-BAF2-8E5D-DAF9-AC5018AD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6D5E3-EF7C-B2AD-C5A1-31A398AF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DF8E-DFC7-E080-CFB2-F9AD4804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5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482D-2465-5553-2711-1A065EB34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A5C39-9DA1-D97E-55A3-47B8EAEC2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1D788-1756-CF78-61D5-831521689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0494A-51AE-B05E-204C-685AAC7C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A30EC-D623-AFD9-ECE4-41647983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9528C-158C-E95C-B36F-B9863360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7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6368-C086-5D7C-A968-73898A95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43B89-AC07-4447-9D4F-50742EE5D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59B4-7195-D2A4-6CC0-AA5189627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E288-4F9A-B4F7-62AB-47B519A71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7F114-D338-4ABD-63EA-A96B9FA3D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FEE806-66BD-FF03-42A6-EDF4788B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9FE8C-37D1-9DB5-AD45-A687C63A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9719C2-32D8-D843-BF8F-C64B9996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05DB-A022-C21F-16C5-0CE7E616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2C595B-98EB-E3FA-55D6-8A7F2971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537B1-FC9E-BDA1-4007-0809FE9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6F5F0-8E7B-9166-DA4B-24C8745D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0A033-E00E-2BF1-15FF-289C7BF2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C27C84-ED2D-AD89-1551-4A8667F0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68287-6102-1BEE-27BF-F24A7730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76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85ED-1489-966D-1B60-69209C1E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8D01-5323-EF89-4CCE-A4C3D1979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7C77D-C094-15B8-8AAE-C2A5B3EE9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E9443-9A9C-9A5F-A69B-12C0E53B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B5C08-6160-EA9C-F11D-69FC2BCA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3C2B1-B538-C00F-1F60-342DFE10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99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5FCF-921A-AAAD-E9F6-925F9AA1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28915D-FF75-AAE1-725F-5C41D0496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07F1E-CA21-00AD-D3B6-6EDF659E8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19DE5-E426-320B-B836-1FC9AA06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69C5B-A707-8495-41C0-93A86052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402D8-7F21-30A9-D118-8CFED7F5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9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9E77-9044-C5B9-9709-9EC18A39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34A48-99E7-4CD7-7770-06DD1422A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02557-B195-A630-9E51-E3F1AF47D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F191B-9F9C-34C3-5B92-B179D5E8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4E5A0-A38A-60B0-03A2-CBE29E61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5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3EB8CB-5EC7-CD54-23FA-C74F11EC5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A9C97-16B8-EF8B-59D2-3AB52F19D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7F3E8-6E5D-B993-C475-C6C53E54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59246-9258-653E-D651-FAC0869FE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366F-A310-ED39-C28C-FD7A3E49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02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E68A9-0ACE-24A9-F2FC-7246767E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906D2-4821-AC49-B7B5-0493A3BC0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6159A-B45A-0165-0C7F-D5430478D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98748-41CA-504E-ACB3-402CF484497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3050E-9E0C-239C-4645-274A60821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E8779-95DD-3C44-9593-B195DA81F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20767-8E31-6D40-80E0-3543D8E54A9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Left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gradFill>
            <a:gsLst>
              <a:gs pos="0">
                <a:srgbClr val="EC008C"/>
              </a:gs>
              <a:gs pos="100000">
                <a:srgbClr val="24BDAD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CornerDot"/>
          <p:cNvSpPr/>
          <p:nvPr/>
        </p:nvSpPr>
        <p:spPr>
          <a:xfrm>
            <a:off x="11582400" y="6400800"/>
            <a:ext cx="571500" cy="457200"/>
          </a:xfrm>
          <a:prstGeom prst="rect">
            <a:avLst/>
          </a:prstGeom>
          <a:solidFill>
            <a:srgbClr val="FFCB0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337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6182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E304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ABA4-F710-C02C-E71F-0647865642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16182B"/>
                </a:solidFill>
                <a:latin typeface="Indosat Bold Bold" pitchFamily="2" charset="77"/>
              </a:rPr>
              <a:t>Constrained </a:t>
            </a:r>
            <a:r>
              <a:rPr lang="en-US" sz="4400" b="1" dirty="0">
                <a:solidFill>
                  <a:srgbClr val="EC008C"/>
                </a:solidFill>
                <a:latin typeface="Indosat Bold Bold" pitchFamily="2" charset="77"/>
              </a:rPr>
              <a:t>Gödel-Agent</a:t>
            </a:r>
            <a:r>
              <a:rPr lang="en-US" sz="4400" b="1" dirty="0">
                <a:solidFill>
                  <a:srgbClr val="16182B"/>
                </a:solidFill>
                <a:latin typeface="Indosat Bold Bold" pitchFamily="2" charset="77"/>
              </a:rPr>
              <a:t> Prototype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6B663-7ED1-F50A-3B0C-AFAD51770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554" y="3705274"/>
            <a:ext cx="10141974" cy="1655762"/>
          </a:xfrm>
        </p:spPr>
        <p:txBody>
          <a:bodyPr/>
          <a:lstStyle/>
          <a:p>
            <a:pPr algn="ctr"/>
            <a:r>
              <a:rPr lang="en-US" sz="2000" b="1" dirty="0">
                <a:solidFill>
                  <a:srgbClr val="24BDAD"/>
                </a:solidFill>
              </a:rPr>
              <a:t>Sovereign, self-improving AI that runs entirely on your own infrastructure — safe by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C6DB7-3A82-4E46-B4D1-56A1AC4000DA}"/>
              </a:ext>
            </a:extLst>
          </p:cNvPr>
          <p:cNvSpPr txBox="1"/>
          <p:nvPr/>
        </p:nvSpPr>
        <p:spPr>
          <a:xfrm>
            <a:off x="1778000" y="5461000"/>
            <a:ext cx="8636000" cy="538609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6182B"/>
                </a:solidFill>
              </a:rPr>
              <a:t>No foreign models  ·  No data leaves your environment  ·  No third-party dependencies</a:t>
            </a:r>
          </a:p>
          <a:p>
            <a:pPr algn="ctr"/>
            <a:r>
              <a:rPr lang="en-US" sz="1400" dirty="0">
                <a:solidFill>
                  <a:srgbClr val="2E3047"/>
                </a:solidFill>
              </a:rPr>
              <a:t>A practical path from a working prototype today to a sovereign Indonesian language model</a:t>
            </a:r>
          </a:p>
        </p:txBody>
      </p:sp>
    </p:spTree>
    <p:extLst>
      <p:ext uri="{BB962C8B-B14F-4D97-AF65-F5344CB8AC3E}">
        <p14:creationId xmlns:p14="http://schemas.microsoft.com/office/powerpoint/2010/main" val="360228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7CD62-FA9B-1173-FE0E-E3499DCE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Executive summary</a:t>
            </a:r>
          </a:p>
        </p:txBody>
      </p:sp>
      <p:sp>
        <p:nvSpPr>
          <p:cNvPr id="500" name="card"/>
          <p:cNvSpPr/>
          <p:nvPr/>
        </p:nvSpPr>
        <p:spPr>
          <a:xfrm>
            <a:off x="838200" y="2184400"/>
            <a:ext cx="3302000" cy="391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  <a:effectLst>
            <a:outerShdw blurRad="90000" dist="38100" dir="5400000" rotWithShape="0">
              <a:srgbClr val="16182B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01" name="iconbg"/>
          <p:cNvSpPr/>
          <p:nvPr/>
        </p:nvSpPr>
        <p:spPr>
          <a:xfrm>
            <a:off x="2082800" y="2540000"/>
            <a:ext cx="812800" cy="812800"/>
          </a:xfrm>
          <a:prstGeom prst="ellipse">
            <a:avLst/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02" name="head"/>
          <p:cNvSpPr/>
          <p:nvPr/>
        </p:nvSpPr>
        <p:spPr>
          <a:xfrm>
            <a:off x="1041400" y="3505200"/>
            <a:ext cx="2895600" cy="50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900" b="1" dirty="0">
                <a:solidFill>
                  <a:srgbClr val="24BDAD"/>
                </a:solidFill>
                <a:latin typeface="Indosat Regular" pitchFamily="2" charset="77"/>
              </a:rPr>
              <a:t>Data sovereignty</a:t>
            </a:r>
          </a:p>
        </p:txBody>
      </p:sp>
      <p:sp>
        <p:nvSpPr>
          <p:cNvPr id="503" name="body"/>
          <p:cNvSpPr/>
          <p:nvPr/>
        </p:nvSpPr>
        <p:spPr>
          <a:xfrm>
            <a:off x="1066800" y="4114800"/>
            <a:ext cx="2844800" cy="17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Prompts, code, and data never leave your environment. No foreign LLM required.</a:t>
            </a:r>
          </a:p>
        </p:txBody>
      </p:sp>
      <p:sp>
        <p:nvSpPr>
          <p:cNvPr id="504" name="card"/>
          <p:cNvSpPr/>
          <p:nvPr/>
        </p:nvSpPr>
        <p:spPr>
          <a:xfrm>
            <a:off x="4445000" y="2184400"/>
            <a:ext cx="3302000" cy="391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  <a:effectLst>
            <a:outerShdw blurRad="90000" dist="38100" dir="5400000" rotWithShape="0">
              <a:srgbClr val="16182B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05" name="iconbg"/>
          <p:cNvSpPr/>
          <p:nvPr/>
        </p:nvSpPr>
        <p:spPr>
          <a:xfrm>
            <a:off x="5689600" y="2540000"/>
            <a:ext cx="812800" cy="8128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06" name="head"/>
          <p:cNvSpPr/>
          <p:nvPr/>
        </p:nvSpPr>
        <p:spPr>
          <a:xfrm>
            <a:off x="4648200" y="3505200"/>
            <a:ext cx="2895600" cy="50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900" b="1" dirty="0">
                <a:solidFill>
                  <a:srgbClr val="EC008C"/>
                </a:solidFill>
                <a:latin typeface="Indosat Regular" pitchFamily="2" charset="77"/>
              </a:rPr>
              <a:t>Safe by design</a:t>
            </a:r>
          </a:p>
        </p:txBody>
      </p:sp>
      <p:sp>
        <p:nvSpPr>
          <p:cNvPr id="507" name="body"/>
          <p:cNvSpPr/>
          <p:nvPr/>
        </p:nvSpPr>
        <p:spPr>
          <a:xfrm>
            <a:off x="4673600" y="4114800"/>
            <a:ext cx="2844800" cy="17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The AI may rewrite only one validated function — every change is gated and auto-rolled back if it regresses.</a:t>
            </a:r>
          </a:p>
        </p:txBody>
      </p:sp>
      <p:sp>
        <p:nvSpPr>
          <p:cNvPr id="508" name="card"/>
          <p:cNvSpPr/>
          <p:nvPr/>
        </p:nvSpPr>
        <p:spPr>
          <a:xfrm>
            <a:off x="8051800" y="2184400"/>
            <a:ext cx="3302000" cy="391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  <a:effectLst>
            <a:outerShdw blurRad="90000" dist="38100" dir="5400000" rotWithShape="0">
              <a:srgbClr val="16182B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09" name="iconbg"/>
          <p:cNvSpPr/>
          <p:nvPr/>
        </p:nvSpPr>
        <p:spPr>
          <a:xfrm>
            <a:off x="9296400" y="2540000"/>
            <a:ext cx="812800" cy="812800"/>
          </a:xfrm>
          <a:prstGeom prst="ellipse">
            <a:avLst/>
          </a:prstGeom>
          <a:solidFill>
            <a:srgbClr val="C7158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10" name="head"/>
          <p:cNvSpPr/>
          <p:nvPr/>
        </p:nvSpPr>
        <p:spPr>
          <a:xfrm>
            <a:off x="8255000" y="3505200"/>
            <a:ext cx="2895600" cy="50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900" b="1" dirty="0">
                <a:solidFill>
                  <a:srgbClr val="C7158D"/>
                </a:solidFill>
                <a:latin typeface="Indosat Regular" pitchFamily="2" charset="77"/>
              </a:rPr>
              <a:t>Lower cost, no lock-in</a:t>
            </a:r>
          </a:p>
        </p:txBody>
      </p:sp>
      <p:sp>
        <p:nvSpPr>
          <p:cNvPr id="511" name="body"/>
          <p:cNvSpPr/>
          <p:nvPr/>
        </p:nvSpPr>
        <p:spPr>
          <a:xfrm>
            <a:off x="8280400" y="4114800"/>
            <a:ext cx="2844800" cy="17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Runs on the Python standard library alone — no vendor fees, no dependencies, no network.</a:t>
            </a:r>
          </a:p>
        </p:txBody>
      </p:sp>
      <p:pic>
        <p:nvPicPr>
          <p:cNvPr id="512" name="Graphic 512" descr="Data sovereign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9800" y="2667000"/>
            <a:ext cx="558800" cy="558800"/>
          </a:xfrm>
          <a:prstGeom prst="rect">
            <a:avLst/>
          </a:prstGeom>
        </p:spPr>
      </p:pic>
      <p:pic>
        <p:nvPicPr>
          <p:cNvPr id="513" name="Graphic 513" descr="Safe by desig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600" y="2667000"/>
            <a:ext cx="558800" cy="558800"/>
          </a:xfrm>
          <a:prstGeom prst="rect">
            <a:avLst/>
          </a:prstGeom>
        </p:spPr>
      </p:pic>
      <p:pic>
        <p:nvPicPr>
          <p:cNvPr id="514" name="Graphic 514" descr="Lower cost, no lock-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23400" y="26670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3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DFEB-4019-001A-1445-52374E23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The problem we're solving</a:t>
            </a:r>
          </a:p>
        </p:txBody>
      </p:sp>
      <p:sp>
        <p:nvSpPr>
          <p:cNvPr id="520" name="row"/>
          <p:cNvSpPr/>
          <p:nvPr/>
        </p:nvSpPr>
        <p:spPr>
          <a:xfrm>
            <a:off x="838200" y="1905000"/>
            <a:ext cx="10515600" cy="12700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21" name="stripe"/>
          <p:cNvSpPr/>
          <p:nvPr/>
        </p:nvSpPr>
        <p:spPr>
          <a:xfrm>
            <a:off x="838200" y="1905000"/>
            <a:ext cx="127000" cy="1270000"/>
          </a:xfrm>
          <a:prstGeom prst="rect">
            <a:avLst/>
          </a:prstGeom>
          <a:solidFill>
            <a:srgbClr val="EE1C24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22" name="iconbg"/>
          <p:cNvSpPr/>
          <p:nvPr/>
        </p:nvSpPr>
        <p:spPr>
          <a:xfrm>
            <a:off x="1143000" y="2209800"/>
            <a:ext cx="660400" cy="660400"/>
          </a:xfrm>
          <a:prstGeom prst="ellipse">
            <a:avLst/>
          </a:prstGeom>
          <a:solidFill>
            <a:srgbClr val="EE1C24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23" name="head"/>
          <p:cNvSpPr/>
          <p:nvPr/>
        </p:nvSpPr>
        <p:spPr>
          <a:xfrm>
            <a:off x="2108200" y="2108200"/>
            <a:ext cx="9017000" cy="406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Foreign-model dependency</a:t>
            </a:r>
          </a:p>
        </p:txBody>
      </p:sp>
      <p:sp>
        <p:nvSpPr>
          <p:cNvPr id="524" name="body"/>
          <p:cNvSpPr/>
          <p:nvPr/>
        </p:nvSpPr>
        <p:spPr>
          <a:xfrm>
            <a:off x="2108200" y="2540000"/>
            <a:ext cx="9017000" cy="5334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Sending prompts and records to external LLM APIs puts banking, Dukcapil/NIK and NPWP/DJP data outside your control.</a:t>
            </a:r>
          </a:p>
        </p:txBody>
      </p:sp>
      <p:sp>
        <p:nvSpPr>
          <p:cNvPr id="525" name="row"/>
          <p:cNvSpPr/>
          <p:nvPr/>
        </p:nvSpPr>
        <p:spPr>
          <a:xfrm>
            <a:off x="838200" y="3352800"/>
            <a:ext cx="10515600" cy="12700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26" name="stripe"/>
          <p:cNvSpPr/>
          <p:nvPr/>
        </p:nvSpPr>
        <p:spPr>
          <a:xfrm>
            <a:off x="838200" y="3352800"/>
            <a:ext cx="127000" cy="1270000"/>
          </a:xfrm>
          <a:prstGeom prst="rect">
            <a:avLst/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27" name="iconbg"/>
          <p:cNvSpPr/>
          <p:nvPr/>
        </p:nvSpPr>
        <p:spPr>
          <a:xfrm>
            <a:off x="1143000" y="3657600"/>
            <a:ext cx="660400" cy="6604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28" name="head"/>
          <p:cNvSpPr/>
          <p:nvPr/>
        </p:nvSpPr>
        <p:spPr>
          <a:xfrm>
            <a:off x="2108200" y="3556000"/>
            <a:ext cx="9017000" cy="406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Cost and vendor lock-in</a:t>
            </a:r>
          </a:p>
        </p:txBody>
      </p:sp>
      <p:sp>
        <p:nvSpPr>
          <p:cNvPr id="529" name="body"/>
          <p:cNvSpPr/>
          <p:nvPr/>
        </p:nvSpPr>
        <p:spPr>
          <a:xfrm>
            <a:off x="2108200" y="3987800"/>
            <a:ext cx="9017000" cy="533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Per-call fees, rate limits, and reliance on a third party's roadmap, pricing and uptime.</a:t>
            </a:r>
          </a:p>
        </p:txBody>
      </p:sp>
      <p:sp>
        <p:nvSpPr>
          <p:cNvPr id="530" name="row"/>
          <p:cNvSpPr/>
          <p:nvPr/>
        </p:nvSpPr>
        <p:spPr>
          <a:xfrm>
            <a:off x="838200" y="4800600"/>
            <a:ext cx="10515600" cy="12700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31" name="stripe"/>
          <p:cNvSpPr/>
          <p:nvPr/>
        </p:nvSpPr>
        <p:spPr>
          <a:xfrm>
            <a:off x="838200" y="4800600"/>
            <a:ext cx="127000" cy="1270000"/>
          </a:xfrm>
          <a:prstGeom prst="rect">
            <a:avLst/>
          </a:prstGeom>
          <a:solidFill>
            <a:srgbClr val="C7158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32" name="iconbg"/>
          <p:cNvSpPr/>
          <p:nvPr/>
        </p:nvSpPr>
        <p:spPr>
          <a:xfrm>
            <a:off x="1143000" y="5105400"/>
            <a:ext cx="660400" cy="660400"/>
          </a:xfrm>
          <a:prstGeom prst="ellipse">
            <a:avLst/>
          </a:prstGeom>
          <a:solidFill>
            <a:srgbClr val="C7158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533" name="head"/>
          <p:cNvSpPr/>
          <p:nvPr/>
        </p:nvSpPr>
        <p:spPr>
          <a:xfrm>
            <a:off x="2108200" y="5003800"/>
            <a:ext cx="9017000" cy="406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Ungoverned self-modifying AI</a:t>
            </a:r>
          </a:p>
        </p:txBody>
      </p:sp>
      <p:sp>
        <p:nvSpPr>
          <p:cNvPr id="534" name="body"/>
          <p:cNvSpPr/>
          <p:nvPr/>
        </p:nvSpPr>
        <p:spPr>
          <a:xfrm>
            <a:off x="2108200" y="5435600"/>
            <a:ext cx="9017000" cy="5334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Agentic systems that rewrite their own logic are powerful — but unconstrained changes are unsafe and hard to audit.</a:t>
            </a:r>
          </a:p>
        </p:txBody>
      </p:sp>
      <p:pic>
        <p:nvPicPr>
          <p:cNvPr id="535" name="Graphic 535" descr="Foreign-model dependenc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336800"/>
            <a:ext cx="406400" cy="406400"/>
          </a:xfrm>
          <a:prstGeom prst="rect">
            <a:avLst/>
          </a:prstGeom>
        </p:spPr>
      </p:pic>
      <p:pic>
        <p:nvPicPr>
          <p:cNvPr id="536" name="Graphic 536" descr="Cost and lock-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3784600"/>
            <a:ext cx="406400" cy="406400"/>
          </a:xfrm>
          <a:prstGeom prst="rect">
            <a:avLst/>
          </a:prstGeom>
        </p:spPr>
      </p:pic>
      <p:pic>
        <p:nvPicPr>
          <p:cNvPr id="537" name="Graphic 537" descr="Ungoverned self-modifying 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52324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2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42E42-13DD-D89B-5551-17AD36D4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Our solution, in plain terms</a:t>
            </a:r>
          </a:p>
        </p:txBody>
      </p:sp>
      <p:sp>
        <p:nvSpPr>
          <p:cNvPr id="600" name="stmt"/>
          <p:cNvSpPr/>
          <p:nvPr/>
        </p:nvSpPr>
        <p:spPr>
          <a:xfrm>
            <a:off x="838200" y="1752600"/>
            <a:ext cx="10515600" cy="889000"/>
          </a:xfrm>
          <a:prstGeom prst="roundRect">
            <a:avLst>
              <a:gd name="adj" fmla="val 12000"/>
            </a:avLst>
          </a:prstGeom>
          <a:solidFill>
            <a:srgbClr val="F3F3F8"/>
          </a:solidFill>
          <a:ln>
            <a:noFill/>
          </a:ln>
        </p:spPr>
        <p:txBody>
          <a:bodyPr wrap="square" lIns="228600" rIns="228600" anchor="ctr">
            <a:normAutofit/>
          </a:bodyPr>
          <a:lstStyle/>
          <a:p>
            <a:pPr algn="ctr"/>
            <a:r>
              <a:rPr lang="en-US" sz="1600" dirty="0">
                <a:solidFill>
                  <a:srgbClr val="16182B"/>
                </a:solidFill>
                <a:latin typeface="Indosat Regular" pitchFamily="2" charset="77"/>
              </a:rPr>
              <a:t>The core idea: software that inspects its own decision logic and rewrites it to perform better — round after round.</a:t>
            </a:r>
          </a:p>
        </p:txBody>
      </p:sp>
      <p:sp>
        <p:nvSpPr>
          <p:cNvPr id="6601" name="panel"/>
          <p:cNvSpPr/>
          <p:nvPr/>
        </p:nvSpPr>
        <p:spPr>
          <a:xfrm>
            <a:off x="838200" y="2844800"/>
            <a:ext cx="5105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  <a:effectLst>
            <a:outerShdw blurRad="90000" dist="38100" dir="5400000" rotWithShape="0">
              <a:srgbClr val="16182B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602" name="hdr"/>
          <p:cNvSpPr/>
          <p:nvPr/>
        </p:nvSpPr>
        <p:spPr>
          <a:xfrm>
            <a:off x="838200" y="2844800"/>
            <a:ext cx="5105400" cy="609600"/>
          </a:xfrm>
          <a:prstGeom prst="roundRect">
            <a:avLst>
              <a:gd name="adj" fmla="val 5000"/>
            </a:avLst>
          </a:prstGeom>
          <a:solidFill>
            <a:srgbClr val="24BDAD"/>
          </a:solidFill>
          <a:ln>
            <a:noFill/>
          </a:ln>
        </p:spPr>
        <p:txBody>
          <a:bodyPr wrap="square" lIns="203200" anchor="ctr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Indosat Regular" pitchFamily="2" charset="77"/>
              </a:rPr>
              <a:t>What we keep — the power</a:t>
            </a:r>
          </a:p>
        </p:txBody>
      </p:sp>
      <p:sp>
        <p:nvSpPr>
          <p:cNvPr id="6603" name="pbody"/>
          <p:cNvSpPr/>
          <p:nvPr/>
        </p:nvSpPr>
        <p:spPr>
          <a:xfrm>
            <a:off x="1066800" y="3632200"/>
            <a:ext cx="4648200" cy="2286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Self-inspection: the AI reviews its own performance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Recursive improvement each round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Live patching of the running policy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Automatic rollback of bad changes</a:t>
            </a:r>
          </a:p>
        </p:txBody>
      </p:sp>
      <p:sp>
        <p:nvSpPr>
          <p:cNvPr id="49201" name="panel"/>
          <p:cNvSpPr/>
          <p:nvPr/>
        </p:nvSpPr>
        <p:spPr>
          <a:xfrm>
            <a:off x="6248400" y="2844800"/>
            <a:ext cx="5105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  <a:effectLst>
            <a:outerShdw blurRad="90000" dist="38100" dir="5400000" rotWithShape="0">
              <a:srgbClr val="16182B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49202" name="hdr"/>
          <p:cNvSpPr/>
          <p:nvPr/>
        </p:nvSpPr>
        <p:spPr>
          <a:xfrm>
            <a:off x="6248400" y="2844800"/>
            <a:ext cx="5105400" cy="609600"/>
          </a:xfrm>
          <a:prstGeom prst="roundRect">
            <a:avLst>
              <a:gd name="adj" fmla="val 5000"/>
            </a:avLst>
          </a:prstGeom>
          <a:solidFill>
            <a:srgbClr val="EC008C"/>
          </a:solidFill>
          <a:ln>
            <a:noFill/>
          </a:ln>
        </p:spPr>
        <p:txBody>
          <a:bodyPr wrap="square" lIns="203200" anchor="ctr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Indosat Regular" pitchFamily="2" charset="77"/>
              </a:rPr>
              <a:t>What we remove — the risk</a:t>
            </a:r>
          </a:p>
        </p:txBody>
      </p:sp>
      <p:sp>
        <p:nvSpPr>
          <p:cNvPr id="49203" name="pbody"/>
          <p:cNvSpPr/>
          <p:nvPr/>
        </p:nvSpPr>
        <p:spPr>
          <a:xfrm>
            <a:off x="6477000" y="3632200"/>
            <a:ext cx="4648200" cy="2286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It may change only ONE small, validated function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No rewriting itself, its files, or its environment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Easy to read, easy to reason about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E3047"/>
                </a:solidFill>
                <a:latin typeface="Indosat Regular" pitchFamily="2" charset="77"/>
              </a:rPr>
              <a:t>Safe to run on a single laptop</a:t>
            </a:r>
          </a:p>
        </p:txBody>
      </p:sp>
    </p:spTree>
    <p:extLst>
      <p:ext uri="{BB962C8B-B14F-4D97-AF65-F5344CB8AC3E}">
        <p14:creationId xmlns:p14="http://schemas.microsoft.com/office/powerpoint/2010/main" val="111186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4DBEA-8FCA-EDC3-08AE-7B48EA6A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How it works — a self-improvement loop</a:t>
            </a:r>
          </a:p>
        </p:txBody>
      </p:sp>
      <p:sp>
        <p:nvSpPr>
          <p:cNvPr id="700" name="stepcard"/>
          <p:cNvSpPr/>
          <p:nvPr/>
        </p:nvSpPr>
        <p:spPr>
          <a:xfrm>
            <a:off x="838200" y="2184400"/>
            <a:ext cx="2286000" cy="271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BDAD"/>
            </a:solidFill>
          </a:ln>
          <a:effectLst>
            <a:outerShdw blurRad="90000" dist="38100" dir="5400000" rotWithShape="0">
              <a:srgbClr val="16182B">
                <a:alpha val="9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10" name="num"/>
          <p:cNvSpPr/>
          <p:nvPr/>
        </p:nvSpPr>
        <p:spPr>
          <a:xfrm>
            <a:off x="1689100" y="2387600"/>
            <a:ext cx="584200" cy="584200"/>
          </a:xfrm>
          <a:prstGeom prst="ellipse">
            <a:avLst/>
          </a:prstGeom>
          <a:solidFill>
            <a:srgbClr val="24BDA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Indosat Regular" pitchFamily="2" charset="77"/>
              </a:rPr>
              <a:t>1</a:t>
            </a:r>
          </a:p>
        </p:txBody>
      </p:sp>
      <p:sp>
        <p:nvSpPr>
          <p:cNvPr id="720" name="steptxt"/>
          <p:cNvSpPr/>
          <p:nvPr/>
        </p:nvSpPr>
        <p:spPr>
          <a:xfrm>
            <a:off x="965200" y="3098800"/>
            <a:ext cx="2032000" cy="1676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Inspect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The agent reads its own current approach</a:t>
            </a:r>
          </a:p>
        </p:txBody>
      </p:sp>
      <p:sp>
        <p:nvSpPr>
          <p:cNvPr id="730" name="arr"/>
          <p:cNvSpPr/>
          <p:nvPr/>
        </p:nvSpPr>
        <p:spPr>
          <a:xfrm>
            <a:off x="3175000" y="3403600"/>
            <a:ext cx="355600" cy="279400"/>
          </a:xfrm>
          <a:prstGeom prst="rightArrow">
            <a:avLst/>
          </a:prstGeom>
          <a:solidFill>
            <a:srgbClr val="B9BAC6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01" name="stepcard"/>
          <p:cNvSpPr/>
          <p:nvPr/>
        </p:nvSpPr>
        <p:spPr>
          <a:xfrm>
            <a:off x="3581400" y="2184400"/>
            <a:ext cx="2286000" cy="271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7158D"/>
            </a:solidFill>
          </a:ln>
          <a:effectLst>
            <a:outerShdw blurRad="90000" dist="38100" dir="5400000" rotWithShape="0">
              <a:srgbClr val="16182B">
                <a:alpha val="9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11" name="num"/>
          <p:cNvSpPr/>
          <p:nvPr/>
        </p:nvSpPr>
        <p:spPr>
          <a:xfrm>
            <a:off x="4432300" y="2387600"/>
            <a:ext cx="584200" cy="584200"/>
          </a:xfrm>
          <a:prstGeom prst="ellipse">
            <a:avLst/>
          </a:prstGeom>
          <a:solidFill>
            <a:srgbClr val="C7158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Indosat Regular" pitchFamily="2" charset="77"/>
              </a:rPr>
              <a:t>2</a:t>
            </a:r>
          </a:p>
        </p:txBody>
      </p:sp>
      <p:sp>
        <p:nvSpPr>
          <p:cNvPr id="721" name="steptxt"/>
          <p:cNvSpPr/>
          <p:nvPr/>
        </p:nvSpPr>
        <p:spPr>
          <a:xfrm>
            <a:off x="3708400" y="3098800"/>
            <a:ext cx="2032000" cy="1676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Evaluate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It runs on real tasks and scores the outcome</a:t>
            </a:r>
          </a:p>
        </p:txBody>
      </p:sp>
      <p:sp>
        <p:nvSpPr>
          <p:cNvPr id="731" name="arr"/>
          <p:cNvSpPr/>
          <p:nvPr/>
        </p:nvSpPr>
        <p:spPr>
          <a:xfrm>
            <a:off x="5918200" y="3403600"/>
            <a:ext cx="355600" cy="279400"/>
          </a:xfrm>
          <a:prstGeom prst="rightArrow">
            <a:avLst/>
          </a:prstGeom>
          <a:solidFill>
            <a:srgbClr val="B9BAC6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02" name="stepcard"/>
          <p:cNvSpPr/>
          <p:nvPr/>
        </p:nvSpPr>
        <p:spPr>
          <a:xfrm>
            <a:off x="6324600" y="2184400"/>
            <a:ext cx="2286000" cy="271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C008C"/>
            </a:solidFill>
          </a:ln>
          <a:effectLst>
            <a:outerShdw blurRad="90000" dist="38100" dir="5400000" rotWithShape="0">
              <a:srgbClr val="16182B">
                <a:alpha val="9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12" name="num"/>
          <p:cNvSpPr/>
          <p:nvPr/>
        </p:nvSpPr>
        <p:spPr>
          <a:xfrm>
            <a:off x="7175500" y="2387600"/>
            <a:ext cx="584200" cy="5842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Indosat Regular" pitchFamily="2" charset="77"/>
              </a:rPr>
              <a:t>3</a:t>
            </a:r>
          </a:p>
        </p:txBody>
      </p:sp>
      <p:sp>
        <p:nvSpPr>
          <p:cNvPr id="722" name="steptxt"/>
          <p:cNvSpPr/>
          <p:nvPr/>
        </p:nvSpPr>
        <p:spPr>
          <a:xfrm>
            <a:off x="6451600" y="3098800"/>
            <a:ext cx="2032000" cy="1676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Improve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It proposes one change, tests it, and keeps it only if the score improves</a:t>
            </a:r>
          </a:p>
        </p:txBody>
      </p:sp>
      <p:sp>
        <p:nvSpPr>
          <p:cNvPr id="732" name="arr"/>
          <p:cNvSpPr/>
          <p:nvPr/>
        </p:nvSpPr>
        <p:spPr>
          <a:xfrm>
            <a:off x="8661400" y="3403600"/>
            <a:ext cx="355600" cy="279400"/>
          </a:xfrm>
          <a:prstGeom prst="rightArrow">
            <a:avLst/>
          </a:prstGeom>
          <a:solidFill>
            <a:srgbClr val="B9BAC6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03" name="stepcard"/>
          <p:cNvSpPr/>
          <p:nvPr/>
        </p:nvSpPr>
        <p:spPr>
          <a:xfrm>
            <a:off x="9067800" y="2184400"/>
            <a:ext cx="2286000" cy="271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CB09"/>
            </a:solidFill>
          </a:ln>
          <a:effectLst>
            <a:outerShdw blurRad="90000" dist="38100" dir="5400000" rotWithShape="0">
              <a:srgbClr val="16182B">
                <a:alpha val="9000"/>
              </a:srgbClr>
            </a:outerShdw>
          </a:effectLst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13" name="num"/>
          <p:cNvSpPr/>
          <p:nvPr/>
        </p:nvSpPr>
        <p:spPr>
          <a:xfrm>
            <a:off x="9918700" y="2387600"/>
            <a:ext cx="584200" cy="584200"/>
          </a:xfrm>
          <a:prstGeom prst="ellipse">
            <a:avLst/>
          </a:prstGeom>
          <a:solidFill>
            <a:srgbClr val="FFCB0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4</a:t>
            </a:r>
          </a:p>
        </p:txBody>
      </p:sp>
      <p:sp>
        <p:nvSpPr>
          <p:cNvPr id="723" name="steptxt"/>
          <p:cNvSpPr/>
          <p:nvPr/>
        </p:nvSpPr>
        <p:spPr>
          <a:xfrm>
            <a:off x="9194800" y="3098800"/>
            <a:ext cx="2032000" cy="1676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Repeat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It loops again — automatically, up to a safe limit</a:t>
            </a:r>
          </a:p>
        </p:txBody>
      </p:sp>
      <p:sp>
        <p:nvSpPr>
          <p:cNvPr id="760" name="banner"/>
          <p:cNvSpPr/>
          <p:nvPr/>
        </p:nvSpPr>
        <p:spPr>
          <a:xfrm>
            <a:off x="838200" y="5181600"/>
            <a:ext cx="10515600" cy="762000"/>
          </a:xfrm>
          <a:prstGeom prst="roundRect">
            <a:avLst>
              <a:gd name="adj" fmla="val 16000"/>
            </a:avLst>
          </a:prstGeom>
          <a:solidFill>
            <a:srgbClr val="E6F7F4"/>
          </a:solidFill>
          <a:ln>
            <a:noFill/>
          </a:ln>
        </p:spPr>
        <p:txBody>
          <a:bodyPr wrap="square" lIns="254000" rIns="25400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127A6E"/>
                </a:solidFill>
                <a:latin typeface="Indosat Regular" pitchFamily="2" charset="77"/>
              </a:rPr>
              <a:t>A change is kept only if it scores at least as well as the best so far — otherwise it is automatically rolled back.</a:t>
            </a:r>
          </a:p>
        </p:txBody>
      </p:sp>
    </p:spTree>
    <p:extLst>
      <p:ext uri="{BB962C8B-B14F-4D97-AF65-F5344CB8AC3E}">
        <p14:creationId xmlns:p14="http://schemas.microsoft.com/office/powerpoint/2010/main" val="2828061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F630-6078-903C-14DA-8090E033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Built-in safety &amp; governance</a:t>
            </a:r>
          </a:p>
        </p:txBody>
      </p:sp>
      <p:sp>
        <p:nvSpPr>
          <p:cNvPr id="800" name="gate"/>
          <p:cNvSpPr/>
          <p:nvPr/>
        </p:nvSpPr>
        <p:spPr>
          <a:xfrm>
            <a:off x="1079500" y="1676400"/>
            <a:ext cx="10033000" cy="558800"/>
          </a:xfrm>
          <a:prstGeom prst="roundRect">
            <a:avLst>
              <a:gd name="adj" fmla="val 20000"/>
            </a:avLst>
          </a:prstGeom>
          <a:solidFill>
            <a:srgbClr val="2E3047"/>
          </a:solidFill>
          <a:ln>
            <a:noFill/>
          </a:ln>
        </p:spPr>
        <p:txBody>
          <a:bodyPr wrap="square" lIns="177800" rIns="17780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Indosat Regular" pitchFamily="2" charset="77"/>
              </a:rPr>
              <a:t>Any change the AI proposes</a:t>
            </a:r>
          </a:p>
        </p:txBody>
      </p:sp>
      <p:sp>
        <p:nvSpPr>
          <p:cNvPr id="801" name="gate"/>
          <p:cNvSpPr/>
          <p:nvPr/>
        </p:nvSpPr>
        <p:spPr>
          <a:xfrm>
            <a:off x="1714500" y="2349500"/>
            <a:ext cx="8763000" cy="558800"/>
          </a:xfrm>
          <a:prstGeom prst="roundRect">
            <a:avLst>
              <a:gd name="adj" fmla="val 20000"/>
            </a:avLst>
          </a:prstGeom>
          <a:solidFill>
            <a:srgbClr val="EC008C"/>
          </a:solidFill>
          <a:ln>
            <a:noFill/>
          </a:ln>
        </p:spPr>
        <p:txBody>
          <a:bodyPr wrap="square" lIns="177800" rIns="17780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Indosat Regular" pitchFamily="2" charset="77"/>
              </a:rPr>
              <a:t>Scope gate — may touch only ONE validated function</a:t>
            </a:r>
          </a:p>
        </p:txBody>
      </p:sp>
      <p:sp>
        <p:nvSpPr>
          <p:cNvPr id="802" name="gate"/>
          <p:cNvSpPr/>
          <p:nvPr/>
        </p:nvSpPr>
        <p:spPr>
          <a:xfrm>
            <a:off x="2349500" y="3022600"/>
            <a:ext cx="7493000" cy="558800"/>
          </a:xfrm>
          <a:prstGeom prst="roundRect">
            <a:avLst>
              <a:gd name="adj" fmla="val 20000"/>
            </a:avLst>
          </a:prstGeom>
          <a:solidFill>
            <a:srgbClr val="C7158D"/>
          </a:solidFill>
          <a:ln>
            <a:noFill/>
          </a:ln>
        </p:spPr>
        <p:txBody>
          <a:bodyPr wrap="square" lIns="177800" rIns="17780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Indosat Regular" pitchFamily="2" charset="77"/>
              </a:rPr>
              <a:t>Code inspection — rejects imports, classes &amp; system access</a:t>
            </a:r>
          </a:p>
        </p:txBody>
      </p:sp>
      <p:sp>
        <p:nvSpPr>
          <p:cNvPr id="803" name="gate"/>
          <p:cNvSpPr/>
          <p:nvPr/>
        </p:nvSpPr>
        <p:spPr>
          <a:xfrm>
            <a:off x="2984500" y="3695700"/>
            <a:ext cx="6223000" cy="558800"/>
          </a:xfrm>
          <a:prstGeom prst="roundRect">
            <a:avLst>
              <a:gd name="adj" fmla="val 20000"/>
            </a:avLst>
          </a:prstGeom>
          <a:solidFill>
            <a:srgbClr val="EC008C"/>
          </a:solidFill>
          <a:ln>
            <a:noFill/>
          </a:ln>
        </p:spPr>
        <p:txBody>
          <a:bodyPr wrap="square" lIns="177800" rIns="17780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Indosat Regular" pitchFamily="2" charset="77"/>
              </a:rPr>
              <a:t>Safe execution — no files, no network, no shell</a:t>
            </a:r>
          </a:p>
        </p:txBody>
      </p:sp>
      <p:sp>
        <p:nvSpPr>
          <p:cNvPr id="804" name="gate"/>
          <p:cNvSpPr/>
          <p:nvPr/>
        </p:nvSpPr>
        <p:spPr>
          <a:xfrm>
            <a:off x="3619500" y="4368800"/>
            <a:ext cx="4953000" cy="558800"/>
          </a:xfrm>
          <a:prstGeom prst="roundRect">
            <a:avLst>
              <a:gd name="adj" fmla="val 20000"/>
            </a:avLst>
          </a:prstGeom>
          <a:solidFill>
            <a:srgbClr val="C7158D"/>
          </a:solidFill>
          <a:ln>
            <a:noFill/>
          </a:ln>
        </p:spPr>
        <p:txBody>
          <a:bodyPr wrap="square" lIns="177800" rIns="17780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Indosat Regular" pitchFamily="2" charset="77"/>
              </a:rPr>
              <a:t>Score gate — must perform as well or better</a:t>
            </a:r>
          </a:p>
        </p:txBody>
      </p:sp>
      <p:sp>
        <p:nvSpPr>
          <p:cNvPr id="820" name="approved"/>
          <p:cNvSpPr/>
          <p:nvPr/>
        </p:nvSpPr>
        <p:spPr>
          <a:xfrm>
            <a:off x="3937000" y="5118100"/>
            <a:ext cx="4318000" cy="609600"/>
          </a:xfrm>
          <a:prstGeom prst="roundRect">
            <a:avLst>
              <a:gd name="adj" fmla="val 50000"/>
            </a:avLst>
          </a:prstGeom>
          <a:solidFill>
            <a:srgbClr val="24BDAD"/>
          </a:solidFill>
          <a:ln>
            <a:noFill/>
          </a:ln>
        </p:spPr>
        <p:txBody>
          <a:bodyPr wrap="square" lIns="177800" rIns="177800" anchor="ctr">
            <a:normAutofit fontScale="77500" lnSpcReduction="20000"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Indosat Regular" pitchFamily="2" charset="77"/>
              </a:rPr>
              <a:t>Approved &amp; kept as new best — else rolled back</a:t>
            </a:r>
          </a:p>
        </p:txBody>
      </p:sp>
      <p:sp>
        <p:nvSpPr>
          <p:cNvPr id="821" name="caveat"/>
          <p:cNvSpPr/>
          <p:nvPr/>
        </p:nvSpPr>
        <p:spPr>
          <a:xfrm>
            <a:off x="838200" y="5829300"/>
            <a:ext cx="10515600" cy="381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400" i="1" dirty="0">
                <a:solidFill>
                  <a:srgbClr val="6A6C7A"/>
                </a:solidFill>
                <a:latin typeface="Indosat Regular" pitchFamily="2" charset="77"/>
              </a:rPr>
              <a:t>A strong safety constraint for experimentation — not a hardened production security boundary.</a:t>
            </a:r>
          </a:p>
        </p:txBody>
      </p:sp>
    </p:spTree>
    <p:extLst>
      <p:ext uri="{BB962C8B-B14F-4D97-AF65-F5344CB8AC3E}">
        <p14:creationId xmlns:p14="http://schemas.microsoft.com/office/powerpoint/2010/main" val="24965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0E8F-F5E6-F388-5083-811546C7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Proven today: two working use cases</a:t>
            </a:r>
          </a:p>
        </p:txBody>
      </p:sp>
      <p:sp>
        <p:nvSpPr>
          <p:cNvPr id="600" name="s601"/>
          <p:cNvSpPr/>
          <p:nvPr/>
        </p:nvSpPr>
        <p:spPr>
          <a:xfrm>
            <a:off x="838200" y="2133600"/>
            <a:ext cx="51054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1" name="e602"/>
          <p:cNvSpPr/>
          <p:nvPr/>
        </p:nvSpPr>
        <p:spPr>
          <a:xfrm>
            <a:off x="1143000" y="2438400"/>
            <a:ext cx="711200" cy="711200"/>
          </a:xfrm>
          <a:prstGeom prst="ellipse">
            <a:avLst/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t603"/>
          <p:cNvSpPr/>
          <p:nvPr/>
        </p:nvSpPr>
        <p:spPr>
          <a:xfrm>
            <a:off x="2006600" y="2514600"/>
            <a:ext cx="3632200" cy="609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900" b="1" dirty="0">
                <a:solidFill>
                  <a:srgbClr val="24BDAD"/>
                </a:solidFill>
              </a:rPr>
              <a:t>Indonesian customer support</a:t>
            </a:r>
          </a:p>
        </p:txBody>
      </p:sp>
      <p:sp>
        <p:nvSpPr>
          <p:cNvPr id="603" name="t604"/>
          <p:cNvSpPr/>
          <p:nvPr/>
        </p:nvSpPr>
        <p:spPr>
          <a:xfrm>
            <a:off x="1143000" y="3352800"/>
            <a:ext cx="4495800" cy="17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dirty="0">
                <a:solidFill>
                  <a:srgbClr val="2E3047"/>
                </a:solidFill>
              </a:rPr>
              <a:t>Answers real banking, fraud, and public-service questions — including Dukcapil/NIK and NPWP/DJP — and handles mixed Indonesian–English. Scored against a realistic scenario set.</a:t>
            </a:r>
          </a:p>
        </p:txBody>
      </p:sp>
      <p:sp>
        <p:nvSpPr>
          <p:cNvPr id="604" name="s605"/>
          <p:cNvSpPr/>
          <p:nvPr/>
        </p:nvSpPr>
        <p:spPr>
          <a:xfrm>
            <a:off x="6248400" y="2133600"/>
            <a:ext cx="51054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5" name="e606"/>
          <p:cNvSpPr/>
          <p:nvPr/>
        </p:nvSpPr>
        <p:spPr>
          <a:xfrm>
            <a:off x="6553200" y="2438400"/>
            <a:ext cx="711200" cy="7112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t607"/>
          <p:cNvSpPr/>
          <p:nvPr/>
        </p:nvSpPr>
        <p:spPr>
          <a:xfrm>
            <a:off x="7416800" y="2514600"/>
            <a:ext cx="3632200" cy="609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900" b="1" dirty="0">
                <a:solidFill>
                  <a:srgbClr val="EC008C"/>
                </a:solidFill>
              </a:rPr>
              <a:t>Code automation agent</a:t>
            </a:r>
          </a:p>
        </p:txBody>
      </p:sp>
      <p:sp>
        <p:nvSpPr>
          <p:cNvPr id="607" name="t608"/>
          <p:cNvSpPr/>
          <p:nvPr/>
        </p:nvSpPr>
        <p:spPr>
          <a:xfrm>
            <a:off x="6553200" y="3352800"/>
            <a:ext cx="4495800" cy="17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dirty="0">
                <a:solidFill>
                  <a:srgbClr val="2E3047"/>
                </a:solidFill>
              </a:rPr>
              <a:t>Writes and refines a phone-number normalizer, validated automatically against a full suite of unit tests.</a:t>
            </a:r>
          </a:p>
        </p:txBody>
      </p:sp>
      <p:sp>
        <p:nvSpPr>
          <p:cNvPr id="608" name="s609"/>
          <p:cNvSpPr/>
          <p:nvPr/>
        </p:nvSpPr>
        <p:spPr>
          <a:xfrm>
            <a:off x="838200" y="5537200"/>
            <a:ext cx="10515600" cy="660400"/>
          </a:xfrm>
          <a:prstGeom prst="roundRect">
            <a:avLst/>
          </a:prstGeom>
          <a:solidFill>
            <a:srgbClr val="F3F3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t610"/>
          <p:cNvSpPr/>
          <p:nvPr/>
        </p:nvSpPr>
        <p:spPr>
          <a:xfrm>
            <a:off x="1143000" y="5537200"/>
            <a:ext cx="9906000" cy="660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400" dirty="0">
                <a:solidFill>
                  <a:srgbClr val="2E3047"/>
                </a:solidFill>
              </a:rPr>
              <a:t>An optional local LLM (Ollama, vLLM, llama.cpp) can suggest improvements — </a:t>
            </a:r>
            <a:r>
              <a:rPr lang="en-US" sz="1400" b="1" dirty="0">
                <a:solidFill>
                  <a:srgbClr val="EC008C"/>
                </a:solidFill>
              </a:rPr>
              <a:t>but is never required to run.</a:t>
            </a:r>
          </a:p>
        </p:txBody>
      </p:sp>
      <p:pic>
        <p:nvPicPr>
          <p:cNvPr id="610" name="Graphic 610" descr="support cha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2700" y="2578100"/>
            <a:ext cx="431800" cy="431800"/>
          </a:xfrm>
          <a:prstGeom prst="rect">
            <a:avLst/>
          </a:prstGeom>
        </p:spPr>
      </p:pic>
      <p:pic>
        <p:nvPicPr>
          <p:cNvPr id="611" name="Graphic 611" descr="code termina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2900" y="25781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11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39726-2325-2755-37FC-B1F12EEB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No foreign model required — three modes</a:t>
            </a:r>
          </a:p>
        </p:txBody>
      </p:sp>
      <p:sp>
        <p:nvSpPr>
          <p:cNvPr id="620" name="s621"/>
          <p:cNvSpPr/>
          <p:nvPr/>
        </p:nvSpPr>
        <p:spPr>
          <a:xfrm>
            <a:off x="838200" y="2159000"/>
            <a:ext cx="3302000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21" name="e622"/>
          <p:cNvSpPr/>
          <p:nvPr/>
        </p:nvSpPr>
        <p:spPr>
          <a:xfrm>
            <a:off x="2159000" y="2413000"/>
            <a:ext cx="660400" cy="660400"/>
          </a:xfrm>
          <a:prstGeom prst="ellipse">
            <a:avLst/>
          </a:prstGeom>
          <a:solidFill>
            <a:srgbClr val="24BDAD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Indosat Regular" pitchFamily="2" charset="77"/>
              </a:rPr>
              <a:t>1</a:t>
            </a:r>
          </a:p>
        </p:txBody>
      </p:sp>
      <p:sp>
        <p:nvSpPr>
          <p:cNvPr id="622" name="t623"/>
          <p:cNvSpPr/>
          <p:nvPr/>
        </p:nvSpPr>
        <p:spPr>
          <a:xfrm>
            <a:off x="990600" y="3200400"/>
            <a:ext cx="2997200" cy="660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24BDAD"/>
                </a:solidFill>
                <a:latin typeface="Indosat Regular" pitchFamily="2" charset="77"/>
              </a:rPr>
              <a:t>No LLM at all</a:t>
            </a:r>
          </a:p>
        </p:txBody>
      </p:sp>
      <p:sp>
        <p:nvSpPr>
          <p:cNvPr id="623" name="t624"/>
          <p:cNvSpPr/>
          <p:nvPr/>
        </p:nvSpPr>
        <p:spPr>
          <a:xfrm>
            <a:off x="990600" y="3886200"/>
            <a:ext cx="2997200" cy="1168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Deterministic, rule-based mutators. Ideal for narrow, well-defined coding tasks.</a:t>
            </a:r>
          </a:p>
        </p:txBody>
      </p:sp>
      <p:sp>
        <p:nvSpPr>
          <p:cNvPr id="624" name="e625"/>
          <p:cNvSpPr/>
          <p:nvPr/>
        </p:nvSpPr>
        <p:spPr>
          <a:xfrm>
            <a:off x="2120900" y="5257800"/>
            <a:ext cx="177800" cy="177800"/>
          </a:xfrm>
          <a:prstGeom prst="ellipse">
            <a:avLst/>
          </a:prstGeom>
          <a:solidFill>
            <a:srgbClr val="24BDAD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25" name="e626"/>
          <p:cNvSpPr/>
          <p:nvPr/>
        </p:nvSpPr>
        <p:spPr>
          <a:xfrm>
            <a:off x="2400300" y="5257800"/>
            <a:ext cx="177800" cy="177800"/>
          </a:xfrm>
          <a:prstGeom prst="ellipse">
            <a:avLst/>
          </a:prstGeom>
          <a:solidFill>
            <a:srgbClr val="D8D8E0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26" name="e627"/>
          <p:cNvSpPr/>
          <p:nvPr/>
        </p:nvSpPr>
        <p:spPr>
          <a:xfrm>
            <a:off x="2679700" y="5257800"/>
            <a:ext cx="177800" cy="177800"/>
          </a:xfrm>
          <a:prstGeom prst="ellipse">
            <a:avLst/>
          </a:prstGeom>
          <a:solidFill>
            <a:srgbClr val="D8D8E0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27" name="t628"/>
          <p:cNvSpPr/>
          <p:nvPr/>
        </p:nvSpPr>
        <p:spPr>
          <a:xfrm>
            <a:off x="990600" y="4927600"/>
            <a:ext cx="2997200" cy="279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8A8A99"/>
                </a:solidFill>
                <a:latin typeface="Indosat Regular" pitchFamily="2" charset="77"/>
              </a:rPr>
              <a:t>Capability</a:t>
            </a:r>
          </a:p>
        </p:txBody>
      </p:sp>
      <p:sp>
        <p:nvSpPr>
          <p:cNvPr id="628" name="s629"/>
          <p:cNvSpPr/>
          <p:nvPr/>
        </p:nvSpPr>
        <p:spPr>
          <a:xfrm>
            <a:off x="4445000" y="2159000"/>
            <a:ext cx="3302000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29" name="e630"/>
          <p:cNvSpPr/>
          <p:nvPr/>
        </p:nvSpPr>
        <p:spPr>
          <a:xfrm>
            <a:off x="5765800" y="2413000"/>
            <a:ext cx="660400" cy="660400"/>
          </a:xfrm>
          <a:prstGeom prst="ellipse">
            <a:avLst/>
          </a:prstGeom>
          <a:solidFill>
            <a:srgbClr val="C7158D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Indosat Regular" pitchFamily="2" charset="77"/>
              </a:rPr>
              <a:t>2</a:t>
            </a:r>
          </a:p>
        </p:txBody>
      </p:sp>
      <p:sp>
        <p:nvSpPr>
          <p:cNvPr id="630" name="t631"/>
          <p:cNvSpPr/>
          <p:nvPr/>
        </p:nvSpPr>
        <p:spPr>
          <a:xfrm>
            <a:off x="4597400" y="3200400"/>
            <a:ext cx="2997200" cy="660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C7158D"/>
                </a:solidFill>
                <a:latin typeface="Indosat Regular" pitchFamily="2" charset="77"/>
              </a:rPr>
              <a:t>Local LLM only</a:t>
            </a:r>
          </a:p>
        </p:txBody>
      </p:sp>
      <p:sp>
        <p:nvSpPr>
          <p:cNvPr id="631" name="t632"/>
          <p:cNvSpPr/>
          <p:nvPr/>
        </p:nvSpPr>
        <p:spPr>
          <a:xfrm>
            <a:off x="4597400" y="3886200"/>
            <a:ext cx="2997200" cy="1168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A model on your own server suggests changes. Your data never leaves the building.</a:t>
            </a:r>
          </a:p>
        </p:txBody>
      </p:sp>
      <p:sp>
        <p:nvSpPr>
          <p:cNvPr id="632" name="e633"/>
          <p:cNvSpPr/>
          <p:nvPr/>
        </p:nvSpPr>
        <p:spPr>
          <a:xfrm>
            <a:off x="5727700" y="5257800"/>
            <a:ext cx="177800" cy="177800"/>
          </a:xfrm>
          <a:prstGeom prst="ellipse">
            <a:avLst/>
          </a:prstGeom>
          <a:solidFill>
            <a:srgbClr val="C7158D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33" name="e634"/>
          <p:cNvSpPr/>
          <p:nvPr/>
        </p:nvSpPr>
        <p:spPr>
          <a:xfrm>
            <a:off x="6007100" y="5257800"/>
            <a:ext cx="177800" cy="177800"/>
          </a:xfrm>
          <a:prstGeom prst="ellipse">
            <a:avLst/>
          </a:prstGeom>
          <a:solidFill>
            <a:srgbClr val="C7158D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34" name="e635"/>
          <p:cNvSpPr/>
          <p:nvPr/>
        </p:nvSpPr>
        <p:spPr>
          <a:xfrm>
            <a:off x="6286500" y="5257800"/>
            <a:ext cx="177800" cy="177800"/>
          </a:xfrm>
          <a:prstGeom prst="ellipse">
            <a:avLst/>
          </a:prstGeom>
          <a:solidFill>
            <a:srgbClr val="D8D8E0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35" name="t636"/>
          <p:cNvSpPr/>
          <p:nvPr/>
        </p:nvSpPr>
        <p:spPr>
          <a:xfrm>
            <a:off x="4597400" y="4927600"/>
            <a:ext cx="2997200" cy="279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8A8A99"/>
                </a:solidFill>
                <a:latin typeface="Indosat Regular" pitchFamily="2" charset="77"/>
              </a:rPr>
              <a:t>Capability</a:t>
            </a:r>
          </a:p>
        </p:txBody>
      </p:sp>
      <p:sp>
        <p:nvSpPr>
          <p:cNvPr id="636" name="s637"/>
          <p:cNvSpPr/>
          <p:nvPr/>
        </p:nvSpPr>
        <p:spPr>
          <a:xfrm>
            <a:off x="8051800" y="2159000"/>
            <a:ext cx="3302000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37" name="e638"/>
          <p:cNvSpPr/>
          <p:nvPr/>
        </p:nvSpPr>
        <p:spPr>
          <a:xfrm>
            <a:off x="9372600" y="2413000"/>
            <a:ext cx="660400" cy="6604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Indosat Regular" pitchFamily="2" charset="77"/>
              </a:rPr>
              <a:t>3</a:t>
            </a:r>
          </a:p>
        </p:txBody>
      </p:sp>
      <p:sp>
        <p:nvSpPr>
          <p:cNvPr id="638" name="t639"/>
          <p:cNvSpPr/>
          <p:nvPr/>
        </p:nvSpPr>
        <p:spPr>
          <a:xfrm>
            <a:off x="8204200" y="3200400"/>
            <a:ext cx="2997200" cy="660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EC008C"/>
                </a:solidFill>
                <a:latin typeface="Indosat Regular" pitchFamily="2" charset="77"/>
              </a:rPr>
              <a:t>Your own Indonesian SLM</a:t>
            </a:r>
          </a:p>
        </p:txBody>
      </p:sp>
      <p:sp>
        <p:nvSpPr>
          <p:cNvPr id="639" name="t640"/>
          <p:cNvSpPr/>
          <p:nvPr/>
        </p:nvSpPr>
        <p:spPr>
          <a:xfrm>
            <a:off x="8204200" y="3886200"/>
            <a:ext cx="2997200" cy="1168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Fine-tune a small, sovereign model and serve it behind your own endpoint.</a:t>
            </a:r>
          </a:p>
        </p:txBody>
      </p:sp>
      <p:sp>
        <p:nvSpPr>
          <p:cNvPr id="640" name="e641"/>
          <p:cNvSpPr/>
          <p:nvPr/>
        </p:nvSpPr>
        <p:spPr>
          <a:xfrm>
            <a:off x="9334500" y="5257800"/>
            <a:ext cx="177800" cy="1778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41" name="e642"/>
          <p:cNvSpPr/>
          <p:nvPr/>
        </p:nvSpPr>
        <p:spPr>
          <a:xfrm>
            <a:off x="9613900" y="5257800"/>
            <a:ext cx="177800" cy="1778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42" name="e643"/>
          <p:cNvSpPr/>
          <p:nvPr/>
        </p:nvSpPr>
        <p:spPr>
          <a:xfrm>
            <a:off x="9893300" y="5257800"/>
            <a:ext cx="177800" cy="1778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 anchor="ctr">
            <a:noAutofit/>
          </a:bodyPr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43" name="t644"/>
          <p:cNvSpPr/>
          <p:nvPr/>
        </p:nvSpPr>
        <p:spPr>
          <a:xfrm>
            <a:off x="8204200" y="4927600"/>
            <a:ext cx="2997200" cy="279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8A8A99"/>
                </a:solidFill>
                <a:latin typeface="Indosat Regular" pitchFamily="2" charset="77"/>
              </a:rPr>
              <a:t>Capability</a:t>
            </a:r>
          </a:p>
        </p:txBody>
      </p:sp>
      <p:sp>
        <p:nvSpPr>
          <p:cNvPr id="644" name="s645"/>
          <p:cNvSpPr/>
          <p:nvPr/>
        </p:nvSpPr>
        <p:spPr>
          <a:xfrm>
            <a:off x="838200" y="5918200"/>
            <a:ext cx="10515600" cy="635000"/>
          </a:xfrm>
          <a:prstGeom prst="roundRect">
            <a:avLst/>
          </a:prstGeom>
          <a:solidFill>
            <a:srgbClr val="EAF7F5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45" name="t646"/>
          <p:cNvSpPr/>
          <p:nvPr/>
        </p:nvSpPr>
        <p:spPr>
          <a:xfrm>
            <a:off x="1143000" y="5918200"/>
            <a:ext cx="9906000" cy="635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In every mode, prompts and data stay inside your environment — </a:t>
            </a:r>
            <a:r>
              <a:rPr lang="en-US" sz="1400" b="1" dirty="0">
                <a:solidFill>
                  <a:srgbClr val="1C8C80"/>
                </a:solidFill>
                <a:latin typeface="Indosat Regular" pitchFamily="2" charset="77"/>
              </a:rPr>
              <a:t>no foreign model, ever.</a:t>
            </a:r>
          </a:p>
        </p:txBody>
      </p:sp>
    </p:spTree>
    <p:extLst>
      <p:ext uri="{BB962C8B-B14F-4D97-AF65-F5344CB8AC3E}">
        <p14:creationId xmlns:p14="http://schemas.microsoft.com/office/powerpoint/2010/main" val="392131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4127-A9F7-A9F7-DC45-B998A232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Under the hood: four pluggable parts</a:t>
            </a:r>
          </a:p>
        </p:txBody>
      </p:sp>
      <p:sp>
        <p:nvSpPr>
          <p:cNvPr id="650" name="s651"/>
          <p:cNvSpPr/>
          <p:nvPr/>
        </p:nvSpPr>
        <p:spPr>
          <a:xfrm>
            <a:off x="838200" y="2006600"/>
            <a:ext cx="51054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51" name="b652"/>
          <p:cNvSpPr/>
          <p:nvPr/>
        </p:nvSpPr>
        <p:spPr>
          <a:xfrm>
            <a:off x="838200" y="2133600"/>
            <a:ext cx="127000" cy="1524000"/>
          </a:xfrm>
          <a:prstGeom prst="roundRect">
            <a:avLst>
              <a:gd name="adj" fmla="val 50000"/>
            </a:avLst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52" name="t653"/>
          <p:cNvSpPr/>
          <p:nvPr/>
        </p:nvSpPr>
        <p:spPr>
          <a:xfrm>
            <a:off x="1193800" y="2209800"/>
            <a:ext cx="3175000" cy="40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GodelAgent</a:t>
            </a:r>
          </a:p>
        </p:txBody>
      </p:sp>
      <p:sp>
        <p:nvSpPr>
          <p:cNvPr id="653" name="p654"/>
          <p:cNvSpPr/>
          <p:nvPr/>
        </p:nvSpPr>
        <p:spPr>
          <a:xfrm>
            <a:off x="4648200" y="2235200"/>
            <a:ext cx="1066800" cy="330200"/>
          </a:xfrm>
          <a:prstGeom prst="roundRect">
            <a:avLst>
              <a:gd name="adj" fmla="val 50000"/>
            </a:avLst>
          </a:prstGeom>
          <a:solidFill>
            <a:srgbClr val="24BDAD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Indosat Regular" pitchFamily="2" charset="77"/>
              </a:rPr>
              <a:t>CORE</a:t>
            </a:r>
          </a:p>
        </p:txBody>
      </p:sp>
      <p:sp>
        <p:nvSpPr>
          <p:cNvPr id="654" name="t655"/>
          <p:cNvSpPr/>
          <p:nvPr/>
        </p:nvSpPr>
        <p:spPr>
          <a:xfrm>
            <a:off x="1193800" y="2717800"/>
            <a:ext cx="4521200" cy="939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The engine: runs the loop, tracks the current and best version, and handles rollback.</a:t>
            </a:r>
          </a:p>
        </p:txBody>
      </p:sp>
      <p:sp>
        <p:nvSpPr>
          <p:cNvPr id="655" name="s656"/>
          <p:cNvSpPr/>
          <p:nvPr/>
        </p:nvSpPr>
        <p:spPr>
          <a:xfrm>
            <a:off x="6248400" y="2006600"/>
            <a:ext cx="51054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56" name="b657"/>
          <p:cNvSpPr/>
          <p:nvPr/>
        </p:nvSpPr>
        <p:spPr>
          <a:xfrm>
            <a:off x="6248400" y="2133600"/>
            <a:ext cx="127000" cy="1524000"/>
          </a:xfrm>
          <a:prstGeom prst="roundRect">
            <a:avLst>
              <a:gd name="adj" fmla="val 50000"/>
            </a:avLst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57" name="t658"/>
          <p:cNvSpPr/>
          <p:nvPr/>
        </p:nvSpPr>
        <p:spPr>
          <a:xfrm>
            <a:off x="6604000" y="2209800"/>
            <a:ext cx="3175000" cy="40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MutationProvider</a:t>
            </a:r>
          </a:p>
        </p:txBody>
      </p:sp>
      <p:sp>
        <p:nvSpPr>
          <p:cNvPr id="658" name="p659"/>
          <p:cNvSpPr/>
          <p:nvPr/>
        </p:nvSpPr>
        <p:spPr>
          <a:xfrm>
            <a:off x="10058400" y="2235200"/>
            <a:ext cx="1066800" cy="330200"/>
          </a:xfrm>
          <a:prstGeom prst="roundRect">
            <a:avLst>
              <a:gd name="adj" fmla="val 50000"/>
            </a:avLst>
          </a:prstGeom>
          <a:solidFill>
            <a:srgbClr val="EC008C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Indosat Regular" pitchFamily="2" charset="77"/>
              </a:rPr>
              <a:t>PLUGGABLE</a:t>
            </a:r>
          </a:p>
        </p:txBody>
      </p:sp>
      <p:sp>
        <p:nvSpPr>
          <p:cNvPr id="659" name="t660"/>
          <p:cNvSpPr/>
          <p:nvPr/>
        </p:nvSpPr>
        <p:spPr>
          <a:xfrm>
            <a:off x="6604000" y="2717800"/>
            <a:ext cx="4521200" cy="939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The “brain” that proposes changes — rule-based or a local LLM. Swap it freely.</a:t>
            </a:r>
          </a:p>
        </p:txBody>
      </p:sp>
      <p:sp>
        <p:nvSpPr>
          <p:cNvPr id="660" name="s661"/>
          <p:cNvSpPr/>
          <p:nvPr/>
        </p:nvSpPr>
        <p:spPr>
          <a:xfrm>
            <a:off x="838200" y="3962400"/>
            <a:ext cx="51054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61" name="b662"/>
          <p:cNvSpPr/>
          <p:nvPr/>
        </p:nvSpPr>
        <p:spPr>
          <a:xfrm>
            <a:off x="838200" y="4089400"/>
            <a:ext cx="127000" cy="1524000"/>
          </a:xfrm>
          <a:prstGeom prst="roundRect">
            <a:avLst>
              <a:gd name="adj" fmla="val 50000"/>
            </a:avLst>
          </a:prstGeom>
          <a:solidFill>
            <a:srgbClr val="C7158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62" name="t663"/>
          <p:cNvSpPr/>
          <p:nvPr/>
        </p:nvSpPr>
        <p:spPr>
          <a:xfrm>
            <a:off x="1193800" y="4165600"/>
            <a:ext cx="3175000" cy="40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Environment</a:t>
            </a:r>
          </a:p>
        </p:txBody>
      </p:sp>
      <p:sp>
        <p:nvSpPr>
          <p:cNvPr id="663" name="p664"/>
          <p:cNvSpPr/>
          <p:nvPr/>
        </p:nvSpPr>
        <p:spPr>
          <a:xfrm>
            <a:off x="4648200" y="4191000"/>
            <a:ext cx="1066800" cy="330200"/>
          </a:xfrm>
          <a:prstGeom prst="roundRect">
            <a:avLst>
              <a:gd name="adj" fmla="val 50000"/>
            </a:avLst>
          </a:prstGeom>
          <a:solidFill>
            <a:srgbClr val="C7158D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Indosat Regular" pitchFamily="2" charset="77"/>
              </a:rPr>
              <a:t>PLUGGABLE</a:t>
            </a:r>
          </a:p>
        </p:txBody>
      </p:sp>
      <p:sp>
        <p:nvSpPr>
          <p:cNvPr id="664" name="t665"/>
          <p:cNvSpPr/>
          <p:nvPr/>
        </p:nvSpPr>
        <p:spPr>
          <a:xfrm>
            <a:off x="1193800" y="4673600"/>
            <a:ext cx="4521200" cy="939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Defines the task and scores results — support scenarios, code tests, or a private holdout.</a:t>
            </a:r>
          </a:p>
        </p:txBody>
      </p:sp>
      <p:sp>
        <p:nvSpPr>
          <p:cNvPr id="665" name="s666"/>
          <p:cNvSpPr/>
          <p:nvPr/>
        </p:nvSpPr>
        <p:spPr>
          <a:xfrm>
            <a:off x="6248400" y="3962400"/>
            <a:ext cx="51054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66" name="b667"/>
          <p:cNvSpPr/>
          <p:nvPr/>
        </p:nvSpPr>
        <p:spPr>
          <a:xfrm>
            <a:off x="6248400" y="4089400"/>
            <a:ext cx="127000" cy="1524000"/>
          </a:xfrm>
          <a:prstGeom prst="roundRect">
            <a:avLst>
              <a:gd name="adj" fmla="val 50000"/>
            </a:avLst>
          </a:prstGeom>
          <a:solidFill>
            <a:srgbClr val="FFCB09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67" name="t668"/>
          <p:cNvSpPr/>
          <p:nvPr/>
        </p:nvSpPr>
        <p:spPr>
          <a:xfrm>
            <a:off x="6604000" y="4165600"/>
            <a:ext cx="3175000" cy="40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16182B"/>
                </a:solidFill>
                <a:latin typeface="Indosat Regular" pitchFamily="2" charset="77"/>
              </a:rPr>
              <a:t>SafePolicyLoader</a:t>
            </a:r>
          </a:p>
        </p:txBody>
      </p:sp>
      <p:sp>
        <p:nvSpPr>
          <p:cNvPr id="668" name="p669"/>
          <p:cNvSpPr/>
          <p:nvPr/>
        </p:nvSpPr>
        <p:spPr>
          <a:xfrm>
            <a:off x="10058400" y="4191000"/>
            <a:ext cx="1066800" cy="330200"/>
          </a:xfrm>
          <a:prstGeom prst="roundRect">
            <a:avLst>
              <a:gd name="adj" fmla="val 50000"/>
            </a:avLst>
          </a:prstGeom>
          <a:solidFill>
            <a:srgbClr val="FFCB09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000" b="1" dirty="0">
                <a:solidFill>
                  <a:srgbClr val="16182B"/>
                </a:solidFill>
                <a:latin typeface="Indosat Regular" pitchFamily="2" charset="77"/>
              </a:rPr>
              <a:t>GATE</a:t>
            </a:r>
          </a:p>
        </p:txBody>
      </p:sp>
      <p:sp>
        <p:nvSpPr>
          <p:cNvPr id="669" name="t670"/>
          <p:cNvSpPr/>
          <p:nvPr/>
        </p:nvSpPr>
        <p:spPr>
          <a:xfrm>
            <a:off x="6604000" y="4673600"/>
            <a:ext cx="4521200" cy="939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400" dirty="0">
                <a:solidFill>
                  <a:srgbClr val="2E3047"/>
                </a:solidFill>
                <a:latin typeface="Indosat Regular" pitchFamily="2" charset="77"/>
              </a:rPr>
              <a:t>The safety checkpoint: inspects every proposed change and blocks anything unsafe.</a:t>
            </a:r>
          </a:p>
        </p:txBody>
      </p:sp>
      <p:sp>
        <p:nvSpPr>
          <p:cNvPr id="670" name="s671"/>
          <p:cNvSpPr/>
          <p:nvPr/>
        </p:nvSpPr>
        <p:spPr>
          <a:xfrm>
            <a:off x="838200" y="5918200"/>
            <a:ext cx="10515600" cy="609600"/>
          </a:xfrm>
          <a:prstGeom prst="roundRect">
            <a:avLst/>
          </a:prstGeom>
          <a:solidFill>
            <a:srgbClr val="F3F3F8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71" name="t672"/>
          <p:cNvSpPr/>
          <p:nvPr/>
        </p:nvSpPr>
        <p:spPr>
          <a:xfrm>
            <a:off x="1143000" y="5918200"/>
            <a:ext cx="9906000" cy="609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2E3047"/>
                </a:solidFill>
                <a:latin typeface="Indosat Regular" pitchFamily="2" charset="77"/>
              </a:rPr>
              <a:t>Pluggable by design — swap the brain or the task without ever touching the safety gate.</a:t>
            </a:r>
          </a:p>
        </p:txBody>
      </p:sp>
    </p:spTree>
    <p:extLst>
      <p:ext uri="{BB962C8B-B14F-4D97-AF65-F5344CB8AC3E}">
        <p14:creationId xmlns:p14="http://schemas.microsoft.com/office/powerpoint/2010/main" val="265958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3ABC-75A5-5B3C-0905-CE254E63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Indosat Regular" pitchFamily="2" charset="77"/>
              </a:rPr>
              <a:t>The strategic prize: a sovereign Indonesian SLM</a:t>
            </a:r>
          </a:p>
        </p:txBody>
      </p:sp>
      <p:sp>
        <p:nvSpPr>
          <p:cNvPr id="600" name="card"/>
          <p:cNvSpPr/>
          <p:nvPr/>
        </p:nvSpPr>
        <p:spPr>
          <a:xfrm>
            <a:off x="838200" y="2006600"/>
            <a:ext cx="51054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1" name="card"/>
          <p:cNvSpPr/>
          <p:nvPr/>
        </p:nvSpPr>
        <p:spPr>
          <a:xfrm>
            <a:off x="6248400" y="2006600"/>
            <a:ext cx="51054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2" name="card"/>
          <p:cNvSpPr/>
          <p:nvPr/>
        </p:nvSpPr>
        <p:spPr>
          <a:xfrm>
            <a:off x="838200" y="2006600"/>
            <a:ext cx="5105400" cy="101600"/>
          </a:xfrm>
          <a:prstGeom prst="roundRect">
            <a:avLst>
              <a:gd name="adj" fmla="val 6000"/>
            </a:avLst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3" name="card"/>
          <p:cNvSpPr/>
          <p:nvPr/>
        </p:nvSpPr>
        <p:spPr>
          <a:xfrm>
            <a:off x="6248400" y="2006600"/>
            <a:ext cx="5105400" cy="101600"/>
          </a:xfrm>
          <a:prstGeom prst="roundRect">
            <a:avLst>
              <a:gd name="adj" fmla="val 6000"/>
            </a:avLst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4" name="ptxt"/>
          <p:cNvSpPr/>
          <p:nvPr/>
        </p:nvSpPr>
        <p:spPr>
          <a:xfrm>
            <a:off x="1117600" y="2260600"/>
            <a:ext cx="45466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4BDAD"/>
                </a:solidFill>
                <a:latin typeface="Indosat Regular" pitchFamily="2" charset="77"/>
              </a:rPr>
              <a:t>What the loop evolves</a:t>
            </a:r>
          </a:p>
          <a:p>
            <a:pPr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2E3047"/>
                </a:solidFill>
                <a:latin typeface="Indosat Regular" pitchFamily="2" charset="77"/>
              </a:rPr>
              <a:t>A structured training recipe — not just toy code: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System prompt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Retrieval (RAG) policy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Training data mix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LoRA fine-tuning config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Safety &amp; refusal policy</a:t>
            </a:r>
          </a:p>
        </p:txBody>
      </p:sp>
      <p:sp>
        <p:nvSpPr>
          <p:cNvPr id="605" name="ptxt"/>
          <p:cNvSpPr/>
          <p:nvPr/>
        </p:nvSpPr>
        <p:spPr>
          <a:xfrm>
            <a:off x="6527800" y="2260600"/>
            <a:ext cx="45466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C008C"/>
                </a:solidFill>
                <a:latin typeface="Indosat Regular" pitchFamily="2" charset="77"/>
              </a:rPr>
              <a:t>How every recipe is scored</a:t>
            </a:r>
          </a:p>
          <a:p>
            <a:pPr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2E3047"/>
                </a:solidFill>
                <a:latin typeface="Indosat Regular" pitchFamily="2" charset="77"/>
              </a:rPr>
              <a:t>On a private, held-out Indonesian benchmark: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Instruction-following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Factual accuracy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Safety &amp; refusal behaviour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Low hallucination rate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Code-switching (ID / EN)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6182B"/>
                </a:solidFill>
                <a:latin typeface="Indosat Regular" pitchFamily="2" charset="77"/>
              </a:rPr>
              <a:t>Latency &amp; cost</a:t>
            </a:r>
          </a:p>
        </p:txBody>
      </p:sp>
    </p:spTree>
    <p:extLst>
      <p:ext uri="{BB962C8B-B14F-4D97-AF65-F5344CB8AC3E}">
        <p14:creationId xmlns:p14="http://schemas.microsoft.com/office/powerpoint/2010/main" val="161839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343A-8443-2FCD-1D47-3874A0ED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Indosat Regular" pitchFamily="2" charset="77"/>
              </a:rPr>
              <a:t>Roadmap to production</a:t>
            </a:r>
          </a:p>
        </p:txBody>
      </p:sp>
      <p:sp>
        <p:nvSpPr>
          <p:cNvPr id="600" name="s"/>
          <p:cNvSpPr/>
          <p:nvPr/>
        </p:nvSpPr>
        <p:spPr>
          <a:xfrm>
            <a:off x="838200" y="2311400"/>
            <a:ext cx="3302000" cy="325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1" name="s"/>
          <p:cNvSpPr/>
          <p:nvPr/>
        </p:nvSpPr>
        <p:spPr>
          <a:xfrm>
            <a:off x="838200" y="2311400"/>
            <a:ext cx="3302000" cy="736600"/>
          </a:xfrm>
          <a:prstGeom prst="roundRect">
            <a:avLst>
              <a:gd name="adj" fmla="val 5000"/>
            </a:avLst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2" name="s"/>
          <p:cNvSpPr/>
          <p:nvPr/>
        </p:nvSpPr>
        <p:spPr>
          <a:xfrm>
            <a:off x="838200" y="2819400"/>
            <a:ext cx="3302000" cy="254000"/>
          </a:xfrm>
          <a:prstGeom prst="roundRect">
            <a:avLst>
              <a:gd name="adj" fmla="val 6000"/>
            </a:avLst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3" name="t"/>
          <p:cNvSpPr/>
          <p:nvPr/>
        </p:nvSpPr>
        <p:spPr>
          <a:xfrm>
            <a:off x="838200" y="2413000"/>
            <a:ext cx="3302000" cy="635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Indosat Regular" pitchFamily="2" charset="77"/>
              </a:rPr>
              <a:t>Phase 1 · Today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dosat Regular" pitchFamily="2" charset="77"/>
              </a:rPr>
              <a:t>Available now</a:t>
            </a:r>
          </a:p>
        </p:txBody>
      </p:sp>
      <p:sp>
        <p:nvSpPr>
          <p:cNvPr id="604" name="t"/>
          <p:cNvSpPr/>
          <p:nvPr/>
        </p:nvSpPr>
        <p:spPr>
          <a:xfrm>
            <a:off x="1041400" y="3225800"/>
            <a:ext cx="289560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Runs on any laptop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Two working domains + smoke tests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Python 3.10+, zero dependencies</a:t>
            </a:r>
          </a:p>
        </p:txBody>
      </p:sp>
      <p:sp>
        <p:nvSpPr>
          <p:cNvPr id="605" name="s"/>
          <p:cNvSpPr/>
          <p:nvPr/>
        </p:nvSpPr>
        <p:spPr>
          <a:xfrm>
            <a:off x="4445000" y="2311400"/>
            <a:ext cx="3302000" cy="325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6" name="s"/>
          <p:cNvSpPr/>
          <p:nvPr/>
        </p:nvSpPr>
        <p:spPr>
          <a:xfrm>
            <a:off x="4445000" y="2311400"/>
            <a:ext cx="3302000" cy="736600"/>
          </a:xfrm>
          <a:prstGeom prst="roundRect">
            <a:avLst>
              <a:gd name="adj" fmla="val 5000"/>
            </a:avLst>
          </a:prstGeom>
          <a:solidFill>
            <a:srgbClr val="C7158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7" name="s"/>
          <p:cNvSpPr/>
          <p:nvPr/>
        </p:nvSpPr>
        <p:spPr>
          <a:xfrm>
            <a:off x="4445000" y="2819400"/>
            <a:ext cx="3302000" cy="254000"/>
          </a:xfrm>
          <a:prstGeom prst="roundRect">
            <a:avLst>
              <a:gd name="adj" fmla="val 6000"/>
            </a:avLst>
          </a:prstGeom>
          <a:solidFill>
            <a:srgbClr val="C7158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8" name="t"/>
          <p:cNvSpPr/>
          <p:nvPr/>
        </p:nvSpPr>
        <p:spPr>
          <a:xfrm>
            <a:off x="4445000" y="2413000"/>
            <a:ext cx="3302000" cy="635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Indosat Regular" pitchFamily="2" charset="77"/>
              </a:rPr>
              <a:t>Phase 2 · Pilot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dosat Regular" pitchFamily="2" charset="77"/>
              </a:rPr>
              <a:t>Next</a:t>
            </a:r>
          </a:p>
        </p:txBody>
      </p:sp>
      <p:sp>
        <p:nvSpPr>
          <p:cNvPr id="609" name="t"/>
          <p:cNvSpPr/>
          <p:nvPr/>
        </p:nvSpPr>
        <p:spPr>
          <a:xfrm>
            <a:off x="4648200" y="3225800"/>
            <a:ext cx="289560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Point it at a local LLM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Score on your real Indonesian eval sets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Private holdout for honest measurement</a:t>
            </a:r>
          </a:p>
        </p:txBody>
      </p:sp>
      <p:sp>
        <p:nvSpPr>
          <p:cNvPr id="610" name="s"/>
          <p:cNvSpPr/>
          <p:nvPr/>
        </p:nvSpPr>
        <p:spPr>
          <a:xfrm>
            <a:off x="8051800" y="2311400"/>
            <a:ext cx="3302000" cy="325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1" name="s"/>
          <p:cNvSpPr/>
          <p:nvPr/>
        </p:nvSpPr>
        <p:spPr>
          <a:xfrm>
            <a:off x="8051800" y="2311400"/>
            <a:ext cx="3302000" cy="736600"/>
          </a:xfrm>
          <a:prstGeom prst="roundRect">
            <a:avLst>
              <a:gd name="adj" fmla="val 5000"/>
            </a:avLst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2" name="s"/>
          <p:cNvSpPr/>
          <p:nvPr/>
        </p:nvSpPr>
        <p:spPr>
          <a:xfrm>
            <a:off x="8051800" y="2819400"/>
            <a:ext cx="3302000" cy="254000"/>
          </a:xfrm>
          <a:prstGeom prst="roundRect">
            <a:avLst>
              <a:gd name="adj" fmla="val 6000"/>
            </a:avLst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3" name="t"/>
          <p:cNvSpPr/>
          <p:nvPr/>
        </p:nvSpPr>
        <p:spPr>
          <a:xfrm>
            <a:off x="8051800" y="2413000"/>
            <a:ext cx="3302000" cy="635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Indosat Regular" pitchFamily="2" charset="77"/>
              </a:rPr>
              <a:t>Phase 3 · Production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dosat Regular" pitchFamily="2" charset="77"/>
              </a:rPr>
              <a:t>Target</a:t>
            </a:r>
          </a:p>
        </p:txBody>
      </p:sp>
      <p:sp>
        <p:nvSpPr>
          <p:cNvPr id="614" name="t"/>
          <p:cNvSpPr/>
          <p:nvPr/>
        </p:nvSpPr>
        <p:spPr>
          <a:xfrm>
            <a:off x="8255000" y="3225800"/>
            <a:ext cx="289560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Fine-tune &amp; serve a sovereign SLM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Isolated containers + signed snapshots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6182B"/>
                </a:solidFill>
                <a:latin typeface="Indosat Regular" pitchFamily="2" charset="77"/>
              </a:rPr>
              <a:t>Constrained edits + human review</a:t>
            </a:r>
          </a:p>
        </p:txBody>
      </p:sp>
      <p:sp>
        <p:nvSpPr>
          <p:cNvPr id="615" name="a"/>
          <p:cNvSpPr/>
          <p:nvPr/>
        </p:nvSpPr>
        <p:spPr>
          <a:xfrm>
            <a:off x="4165600" y="3810000"/>
            <a:ext cx="228600" cy="254000"/>
          </a:xfrm>
          <a:prstGeom prst="rightArrow">
            <a:avLst/>
          </a:prstGeom>
          <a:solidFill>
            <a:srgbClr val="BBBBC2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6" name="a"/>
          <p:cNvSpPr/>
          <p:nvPr/>
        </p:nvSpPr>
        <p:spPr>
          <a:xfrm>
            <a:off x="7772400" y="3810000"/>
            <a:ext cx="228600" cy="254000"/>
          </a:xfrm>
          <a:prstGeom prst="rightArrow">
            <a:avLst/>
          </a:prstGeom>
          <a:solidFill>
            <a:srgbClr val="BBBBC2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7" name="s"/>
          <p:cNvSpPr/>
          <p:nvPr/>
        </p:nvSpPr>
        <p:spPr>
          <a:xfrm>
            <a:off x="838200" y="5740400"/>
            <a:ext cx="10515600" cy="584200"/>
          </a:xfrm>
          <a:prstGeom prst="roundRect">
            <a:avLst>
              <a:gd name="adj" fmla="val 10000"/>
            </a:avLst>
          </a:prstGeom>
          <a:solidFill>
            <a:srgbClr val="EAF7F5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8" name="t"/>
          <p:cNvSpPr/>
          <p:nvPr/>
        </p:nvSpPr>
        <p:spPr>
          <a:xfrm>
            <a:off x="1143000" y="5740400"/>
            <a:ext cx="9906000" cy="584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C8C80"/>
                </a:solidFill>
                <a:latin typeface="Indosat Regular" pitchFamily="2" charset="77"/>
              </a:rPr>
              <a:t>Every phase keeps the same safety gate and data-sovereignty guarantees.</a:t>
            </a:r>
          </a:p>
        </p:txBody>
      </p:sp>
    </p:spTree>
    <p:extLst>
      <p:ext uri="{BB962C8B-B14F-4D97-AF65-F5344CB8AC3E}">
        <p14:creationId xmlns:p14="http://schemas.microsoft.com/office/powerpoint/2010/main" val="188304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47DC-D6F6-63B6-B1F1-A4F5CB89C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Indosat Regular" pitchFamily="2" charset="77"/>
              </a:rPr>
              <a:t>Team &amp; infrastructure</a:t>
            </a:r>
          </a:p>
        </p:txBody>
      </p:sp>
      <p:sp>
        <p:nvSpPr>
          <p:cNvPr id="701" name="t701"/>
          <p:cNvSpPr txBox="1"/>
          <p:nvPr/>
        </p:nvSpPr>
        <p:spPr>
          <a:xfrm>
            <a:off x="838200" y="1905000"/>
            <a:ext cx="5105400" cy="381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2000" b="1" dirty="0">
                <a:solidFill>
                  <a:srgbClr val="1B8A7E"/>
                </a:solidFill>
                <a:latin typeface="Indosat Regular" pitchFamily="2" charset="77"/>
              </a:rPr>
              <a:t>The team — just two people</a:t>
            </a:r>
          </a:p>
        </p:txBody>
      </p:sp>
      <p:sp>
        <p:nvSpPr>
          <p:cNvPr id="702" name="t702"/>
          <p:cNvSpPr txBox="1"/>
          <p:nvPr/>
        </p:nvSpPr>
        <p:spPr>
          <a:xfrm>
            <a:off x="6248400" y="1905000"/>
            <a:ext cx="5105400" cy="381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2000" b="1" dirty="0">
                <a:solidFill>
                  <a:srgbClr val="EC008C"/>
                </a:solidFill>
                <a:latin typeface="Indosat Regular" pitchFamily="2" charset="77"/>
              </a:rPr>
              <a:t>Infrastructure by phase</a:t>
            </a:r>
          </a:p>
        </p:txBody>
      </p:sp>
      <p:sp>
        <p:nvSpPr>
          <p:cNvPr id="703" name="s703"/>
          <p:cNvSpPr/>
          <p:nvPr/>
        </p:nvSpPr>
        <p:spPr>
          <a:xfrm>
            <a:off x="6248400" y="2362200"/>
            <a:ext cx="5105400" cy="1193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04" name="st704"/>
          <p:cNvSpPr/>
          <p:nvPr/>
        </p:nvSpPr>
        <p:spPr>
          <a:xfrm>
            <a:off x="6248400" y="2362200"/>
            <a:ext cx="114300" cy="1193800"/>
          </a:xfrm>
          <a:prstGeom prst="roundRect">
            <a:avLst>
              <a:gd name="adj" fmla="val 50000"/>
            </a:avLst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05" name="t705"/>
          <p:cNvSpPr txBox="1"/>
          <p:nvPr/>
        </p:nvSpPr>
        <p:spPr>
          <a:xfrm>
            <a:off x="6553200" y="2476500"/>
            <a:ext cx="4572000" cy="3048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24BDAD"/>
                </a:solidFill>
                <a:latin typeface="Indosat Regular" pitchFamily="2" charset="77"/>
              </a:rPr>
              <a:t>Prototype — available now</a:t>
            </a:r>
          </a:p>
        </p:txBody>
      </p:sp>
      <p:sp>
        <p:nvSpPr>
          <p:cNvPr id="706" name="t706"/>
          <p:cNvSpPr txBox="1"/>
          <p:nvPr/>
        </p:nvSpPr>
        <p:spPr>
          <a:xfrm>
            <a:off x="6553200" y="2819400"/>
            <a:ext cx="4572000" cy="66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00" dirty="0">
                <a:solidFill>
                  <a:srgbClr val="2E3047"/>
                </a:solidFill>
                <a:latin typeface="Indosat Regular" pitchFamily="2" charset="77"/>
              </a:rPr>
              <a:t>Existing laptop / workstation · CPU only · Python 3.10+ with zero third-party dependencies</a:t>
            </a:r>
          </a:p>
        </p:txBody>
      </p:sp>
      <p:sp>
        <p:nvSpPr>
          <p:cNvPr id="707" name="s707"/>
          <p:cNvSpPr/>
          <p:nvPr/>
        </p:nvSpPr>
        <p:spPr>
          <a:xfrm>
            <a:off x="6248400" y="3708400"/>
            <a:ext cx="5105400" cy="1193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08" name="st708"/>
          <p:cNvSpPr/>
          <p:nvPr/>
        </p:nvSpPr>
        <p:spPr>
          <a:xfrm>
            <a:off x="6248400" y="3708400"/>
            <a:ext cx="114300" cy="1193800"/>
          </a:xfrm>
          <a:prstGeom prst="roundRect">
            <a:avLst>
              <a:gd name="adj" fmla="val 50000"/>
            </a:avLst>
          </a:prstGeom>
          <a:solidFill>
            <a:srgbClr val="C7158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09" name="t709"/>
          <p:cNvSpPr txBox="1"/>
          <p:nvPr/>
        </p:nvSpPr>
        <p:spPr>
          <a:xfrm>
            <a:off x="6553200" y="3822700"/>
            <a:ext cx="4572000" cy="3048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C7158D"/>
                </a:solidFill>
                <a:latin typeface="Indosat Regular" pitchFamily="2" charset="77"/>
              </a:rPr>
              <a:t>Pilot</a:t>
            </a:r>
          </a:p>
        </p:txBody>
      </p:sp>
      <p:sp>
        <p:nvSpPr>
          <p:cNvPr id="710" name="t710"/>
          <p:cNvSpPr txBox="1"/>
          <p:nvPr/>
        </p:nvSpPr>
        <p:spPr>
          <a:xfrm>
            <a:off x="6553200" y="4165600"/>
            <a:ext cx="4572000" cy="6604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1300" dirty="0">
                <a:solidFill>
                  <a:srgbClr val="2E3047"/>
                </a:solidFill>
              </a:rPr>
              <a:t>Reuse an existing server + an owned / repurposed GPU (no capital cost) — electricity only · local LLM quantized to run on modest hardware</a:t>
            </a:r>
          </a:p>
        </p:txBody>
      </p:sp>
      <p:sp>
        <p:nvSpPr>
          <p:cNvPr id="711" name="s711"/>
          <p:cNvSpPr/>
          <p:nvPr/>
        </p:nvSpPr>
        <p:spPr>
          <a:xfrm>
            <a:off x="6248400" y="5054600"/>
            <a:ext cx="5105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12" name="st712"/>
          <p:cNvSpPr/>
          <p:nvPr/>
        </p:nvSpPr>
        <p:spPr>
          <a:xfrm>
            <a:off x="6248400" y="5054600"/>
            <a:ext cx="114300" cy="1371600"/>
          </a:xfrm>
          <a:prstGeom prst="roundRect">
            <a:avLst>
              <a:gd name="adj" fmla="val 50000"/>
            </a:avLst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713" name="t713"/>
          <p:cNvSpPr txBox="1"/>
          <p:nvPr/>
        </p:nvSpPr>
        <p:spPr>
          <a:xfrm>
            <a:off x="6553200" y="5168900"/>
            <a:ext cx="4572000" cy="3048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EC008C"/>
                </a:solidFill>
                <a:latin typeface="Indosat Regular" pitchFamily="2" charset="77"/>
              </a:rPr>
              <a:t>Production &amp; sovereign SLM</a:t>
            </a:r>
          </a:p>
        </p:txBody>
      </p:sp>
      <p:sp>
        <p:nvSpPr>
          <p:cNvPr id="714" name="t714"/>
          <p:cNvSpPr txBox="1"/>
          <p:nvPr/>
        </p:nvSpPr>
        <p:spPr>
          <a:xfrm>
            <a:off x="6553200" y="5511800"/>
            <a:ext cx="4572000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300" dirty="0">
                <a:solidFill>
                  <a:srgbClr val="2E3047"/>
                </a:solidFill>
              </a:rPr>
              <a:t>Reused servers, no dedicated cluster · LoRA fine-tune on the owned GPU (electricity only) · serve a quantized model on current hardware</a:t>
            </a:r>
          </a:p>
        </p:txBody>
      </p:sp>
      <p:sp>
        <p:nvSpPr>
          <p:cNvPr id="761" name="pc761"/>
          <p:cNvSpPr/>
          <p:nvPr/>
        </p:nvSpPr>
        <p:spPr>
          <a:xfrm>
            <a:off x="838200" y="2362200"/>
            <a:ext cx="5105400" cy="175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2" name="stp762"/>
          <p:cNvSpPr/>
          <p:nvPr/>
        </p:nvSpPr>
        <p:spPr>
          <a:xfrm>
            <a:off x="838200" y="2362200"/>
            <a:ext cx="114300" cy="1752600"/>
          </a:xfrm>
          <a:prstGeom prst="roundRect">
            <a:avLst>
              <a:gd name="adj" fmla="val 50000"/>
            </a:avLst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3" name="tl763"/>
          <p:cNvSpPr txBox="1"/>
          <p:nvPr/>
        </p:nvSpPr>
        <p:spPr>
          <a:xfrm>
            <a:off x="1143000" y="2489200"/>
            <a:ext cx="4572000" cy="3302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1700" b="1" dirty="0">
                <a:solidFill>
                  <a:srgbClr val="16182B"/>
                </a:solidFill>
              </a:rPr>
              <a:t>You — Initiator &amp; Technical Lead</a:t>
            </a:r>
          </a:p>
        </p:txBody>
      </p:sp>
      <p:sp>
        <p:nvSpPr>
          <p:cNvPr id="764" name="tl764"/>
          <p:cNvSpPr txBox="1"/>
          <p:nvPr/>
        </p:nvSpPr>
        <p:spPr>
          <a:xfrm>
            <a:off x="1143000" y="2844800"/>
            <a:ext cx="4572000" cy="254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lang="en-US" sz="1300" i="1" dirty="0">
                <a:solidFill>
                  <a:srgbClr val="1B8A7E"/>
                </a:solidFill>
              </a:rPr>
              <a:t>Agent core, safety gate &amp; delivery lead</a:t>
            </a:r>
          </a:p>
        </p:txBody>
      </p:sp>
      <p:sp>
        <p:nvSpPr>
          <p:cNvPr id="765" name="bl765"/>
          <p:cNvSpPr txBox="1"/>
          <p:nvPr/>
        </p:nvSpPr>
        <p:spPr>
          <a:xfrm>
            <a:off x="1143000" y="3175000"/>
            <a:ext cx="4572000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en-US" sz="1400" dirty="0">
                <a:solidFill>
                  <a:srgbClr val="2E3047"/>
                </a:solidFill>
              </a:rPr>
              <a:t>Agent core loop, safety gate &amp; architecture</a:t>
            </a:r>
          </a:p>
          <a:p>
            <a:pPr marL="171450" indent="-171450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en-US" sz="1400" dirty="0">
                <a:solidFill>
                  <a:srgbClr val="2E3047"/>
                </a:solidFill>
              </a:rPr>
              <a:t>Integration, roadmap &amp; stakeholder management</a:t>
            </a:r>
          </a:p>
        </p:txBody>
      </p:sp>
      <p:sp>
        <p:nvSpPr>
          <p:cNvPr id="766" name="pc766"/>
          <p:cNvSpPr/>
          <p:nvPr/>
        </p:nvSpPr>
        <p:spPr>
          <a:xfrm>
            <a:off x="838200" y="4216400"/>
            <a:ext cx="5105400" cy="2311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7" name="stp767"/>
          <p:cNvSpPr/>
          <p:nvPr/>
        </p:nvSpPr>
        <p:spPr>
          <a:xfrm>
            <a:off x="838200" y="4216400"/>
            <a:ext cx="114300" cy="2311400"/>
          </a:xfrm>
          <a:prstGeom prst="roundRect">
            <a:avLst>
              <a:gd name="adj" fmla="val 50000"/>
            </a:avLst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8" name="tl768"/>
          <p:cNvSpPr txBox="1"/>
          <p:nvPr/>
        </p:nvSpPr>
        <p:spPr>
          <a:xfrm>
            <a:off x="1143000" y="4343400"/>
            <a:ext cx="4572000" cy="3302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1700" b="1" dirty="0">
                <a:solidFill>
                  <a:srgbClr val="16182B"/>
                </a:solidFill>
              </a:rPr>
              <a:t>Pramadhanu Parwito</a:t>
            </a:r>
          </a:p>
        </p:txBody>
      </p:sp>
      <p:sp>
        <p:nvSpPr>
          <p:cNvPr id="769" name="tl769"/>
          <p:cNvSpPr txBox="1"/>
          <p:nvPr/>
        </p:nvSpPr>
        <p:spPr>
          <a:xfrm>
            <a:off x="1143000" y="4699000"/>
            <a:ext cx="4572000" cy="254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lang="en-US" sz="1300" i="1" dirty="0">
                <a:solidFill>
                  <a:srgbClr val="EC008C"/>
                </a:solidFill>
              </a:rPr>
              <a:t>Data &amp; AI Engineer</a:t>
            </a:r>
          </a:p>
        </p:txBody>
      </p:sp>
      <p:sp>
        <p:nvSpPr>
          <p:cNvPr id="770" name="bl770"/>
          <p:cNvSpPr txBox="1"/>
          <p:nvPr/>
        </p:nvSpPr>
        <p:spPr>
          <a:xfrm>
            <a:off x="1143000" y="5029200"/>
            <a:ext cx="4572000" cy="142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lnSpc>
                <a:spcPts val="1750"/>
              </a:lnSpc>
              <a:spcAft>
                <a:spcPts val="300"/>
              </a:spcAft>
              <a:buFont typeface="Arial"/>
              <a:buChar char="•"/>
            </a:pPr>
            <a:r>
              <a:rPr lang="en-US" sz="1350" dirty="0">
                <a:solidFill>
                  <a:srgbClr val="2E3047"/>
                </a:solidFill>
              </a:rPr>
              <a:t>Data &amp; evaluation pipelines — PySpark, MongoDB, Docker</a:t>
            </a:r>
          </a:p>
          <a:p>
            <a:pPr marL="171450" indent="-171450">
              <a:lnSpc>
                <a:spcPts val="1750"/>
              </a:lnSpc>
              <a:spcAft>
                <a:spcPts val="300"/>
              </a:spcAft>
              <a:buFont typeface="Arial"/>
              <a:buChar char="•"/>
            </a:pPr>
            <a:r>
              <a:rPr lang="en-US" sz="1350" dirty="0">
                <a:solidFill>
                  <a:srgbClr val="2E3047"/>
                </a:solidFill>
              </a:rPr>
              <a:t>LLM integration &amp; orchestration — Dify, Qwen, Gemini</a:t>
            </a:r>
          </a:p>
          <a:p>
            <a:pPr marL="171450" indent="-171450">
              <a:lnSpc>
                <a:spcPts val="1750"/>
              </a:lnSpc>
              <a:spcAft>
                <a:spcPts val="300"/>
              </a:spcAft>
              <a:buFont typeface="Arial"/>
              <a:buChar char="•"/>
            </a:pPr>
            <a:r>
              <a:rPr lang="en-US" sz="1350" dirty="0">
                <a:solidFill>
                  <a:srgbClr val="2E3047"/>
                </a:solidFill>
              </a:rPr>
              <a:t>Evaluation &amp; holdout scoring — Metabase, Tableau</a:t>
            </a:r>
          </a:p>
          <a:p>
            <a:pPr marL="171450" indent="-171450">
              <a:lnSpc>
                <a:spcPts val="1750"/>
              </a:lnSpc>
              <a:spcAft>
                <a:spcPts val="300"/>
              </a:spcAft>
              <a:buFont typeface="Arial"/>
              <a:buChar char="•"/>
            </a:pPr>
            <a:r>
              <a:rPr lang="en-US" sz="1350" dirty="0">
                <a:solidFill>
                  <a:srgbClr val="2E3047"/>
                </a:solidFill>
              </a:rPr>
              <a:t>Native Indonesian — code-switching domain expertise</a:t>
            </a:r>
          </a:p>
        </p:txBody>
      </p:sp>
    </p:spTree>
    <p:extLst>
      <p:ext uri="{BB962C8B-B14F-4D97-AF65-F5344CB8AC3E}">
        <p14:creationId xmlns:p14="http://schemas.microsoft.com/office/powerpoint/2010/main" val="1089809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E3588-B947-F1EB-B509-4463CAC2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Indosat Regular" pitchFamily="2" charset="77"/>
              </a:rPr>
              <a:t>Indicative investment</a:t>
            </a:r>
          </a:p>
        </p:txBody>
      </p:sp>
      <p:sp>
        <p:nvSpPr>
          <p:cNvPr id="801" name="callout"/>
          <p:cNvSpPr/>
          <p:nvPr/>
        </p:nvSpPr>
        <p:spPr>
          <a:xfrm>
            <a:off x="838200" y="4724400"/>
            <a:ext cx="10515600" cy="863600"/>
          </a:xfrm>
          <a:prstGeom prst="roundRect">
            <a:avLst>
              <a:gd name="adj" fmla="val 12000"/>
            </a:avLst>
          </a:prstGeom>
          <a:solidFill>
            <a:srgbClr val="16182B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Year-1 investment ≈ Rp 45–70 million</a:t>
            </a:r>
          </a:p>
          <a:p>
            <a:pPr algn="ctr"/>
            <a:r>
              <a:rPr lang="en-US" sz="1400" dirty="0">
                <a:solidFill>
                  <a:srgbClr val="B8ECE6"/>
                </a:solidFill>
              </a:rPr>
              <a:t>One data/AI intern stipend + electricity  ·  hardware reused (Rp 0)  ·  initiator already on payroll</a:t>
            </a:r>
          </a:p>
        </p:txBody>
      </p:sp>
      <p:sp>
        <p:nvSpPr>
          <p:cNvPr id="802" name="method"/>
          <p:cNvSpPr txBox="1"/>
          <p:nvPr/>
        </p:nvSpPr>
        <p:spPr>
          <a:xfrm>
            <a:off x="838200" y="5740400"/>
            <a:ext cx="10515600" cy="6604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/>
            <a:r>
              <a:rPr lang="en-US" sz="1400" i="1" dirty="0">
                <a:solidFill>
                  <a:srgbClr val="4A4A5A"/>
                </a:solidFill>
              </a:rPr>
              <a:t>*Internship model: data/AI intern stipend ≈ Rp 3–5 M/mo + transport/meal (~1.1×), ~12 months ≈ Rp 40–66 M — no full BPJS/THR; fits a current MS AI &amp; Data Science student. Initiator on payroll (Rp 0); hardware owned/reused; electricity ~Rp 1,500/kWh. Validate stipend with HR.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F46E75-4322-5A45-BE2B-37391D7B214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33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4864775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927214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991869782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1119821357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128962345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anchor="ctr">
                    <a:solidFill>
                      <a:srgbClr val="1B8A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 anchor="ctr">
                    <a:solidFill>
                      <a:srgbClr val="1B8A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Team</a:t>
                      </a:r>
                    </a:p>
                  </a:txBody>
                  <a:tcPr anchor="ctr">
                    <a:solidFill>
                      <a:srgbClr val="1B8A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Compute &amp; power</a:t>
                      </a:r>
                    </a:p>
                  </a:txBody>
                  <a:tcPr anchor="ctr">
                    <a:solidFill>
                      <a:srgbClr val="1B8A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Power cost (IDR)</a:t>
                      </a:r>
                    </a:p>
                  </a:txBody>
                  <a:tcPr anchor="ctr">
                    <a:solidFill>
                      <a:srgbClr val="1B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8071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1 · Prototype (now)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0–1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Initiator (on payroll)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Laptop — negligible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>
                          <a:solidFill>
                            <a:srgbClr val="16182B"/>
                          </a:solidFill>
                        </a:rPr>
                        <a:t>~ Rp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9853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2 · Pilot</a:t>
                      </a:r>
                    </a:p>
                  </a:txBody>
                  <a:tcPr anchor="ctr">
                    <a:solidFill>
                      <a:srgbClr val="F3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3–4 mo</a:t>
                      </a:r>
                    </a:p>
                  </a:txBody>
                  <a:tcPr anchor="ctr">
                    <a:solidFill>
                      <a:srgbClr val="F3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+ 1 data/AI intern</a:t>
                      </a:r>
                    </a:p>
                  </a:txBody>
                  <a:tcPr anchor="ctr">
                    <a:solidFill>
                      <a:srgbClr val="F3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Owned GPU · ~0.5 kW · electricity</a:t>
                      </a:r>
                    </a:p>
                  </a:txBody>
                  <a:tcPr anchor="ctr">
                    <a:solidFill>
                      <a:srgbClr val="F3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>
                          <a:solidFill>
                            <a:srgbClr val="16182B"/>
                          </a:solidFill>
                        </a:rPr>
                        <a:t>~ Rp 0.5 M</a:t>
                      </a:r>
                    </a:p>
                  </a:txBody>
                  <a:tcPr anchor="ctr">
                    <a:solidFill>
                      <a:srgbClr val="F3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68043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3 · Production &amp; SLM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6–12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Initiator + 1 intern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Owned GPU · bursts + serving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>
                          <a:solidFill>
                            <a:srgbClr val="16182B"/>
                          </a:solidFill>
                        </a:rPr>
                        <a:t>~ Rp 3–5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91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203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D41F-FF2D-8A68-6A11-9AA1CCE2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Indosat Regular" pitchFamily="2" charset="77"/>
              </a:rPr>
              <a:t>Business value &amp; the ask</a:t>
            </a:r>
          </a:p>
        </p:txBody>
      </p:sp>
      <p:sp>
        <p:nvSpPr>
          <p:cNvPr id="600" name="s"/>
          <p:cNvSpPr/>
          <p:nvPr/>
        </p:nvSpPr>
        <p:spPr>
          <a:xfrm>
            <a:off x="838200" y="2006600"/>
            <a:ext cx="2400300" cy="2260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1" name="e"/>
          <p:cNvSpPr/>
          <p:nvPr/>
        </p:nvSpPr>
        <p:spPr>
          <a:xfrm>
            <a:off x="1708150" y="2235200"/>
            <a:ext cx="660400" cy="660400"/>
          </a:xfrm>
          <a:prstGeom prst="ellipse">
            <a:avLst/>
          </a:prstGeom>
          <a:solidFill>
            <a:srgbClr val="24BDA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2" name="t"/>
          <p:cNvSpPr/>
          <p:nvPr/>
        </p:nvSpPr>
        <p:spPr>
          <a:xfrm>
            <a:off x="939800" y="3022600"/>
            <a:ext cx="2197100" cy="40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4BDAD"/>
                </a:solidFill>
                <a:latin typeface="Indosat Regular" pitchFamily="2" charset="77"/>
              </a:rPr>
              <a:t>Sovereign</a:t>
            </a:r>
          </a:p>
        </p:txBody>
      </p:sp>
      <p:sp>
        <p:nvSpPr>
          <p:cNvPr id="603" name="t"/>
          <p:cNvSpPr/>
          <p:nvPr/>
        </p:nvSpPr>
        <p:spPr>
          <a:xfrm>
            <a:off x="965200" y="3454400"/>
            <a:ext cx="2146300" cy="736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1350" b="0" dirty="0">
                <a:solidFill>
                  <a:srgbClr val="2E3047"/>
                </a:solidFill>
                <a:latin typeface="Indosat Regular" pitchFamily="2" charset="77"/>
              </a:rPr>
              <a:t>Data and models stay in your environment</a:t>
            </a:r>
          </a:p>
        </p:txBody>
      </p:sp>
      <p:sp>
        <p:nvSpPr>
          <p:cNvPr id="604" name="s"/>
          <p:cNvSpPr/>
          <p:nvPr/>
        </p:nvSpPr>
        <p:spPr>
          <a:xfrm>
            <a:off x="3543300" y="2006600"/>
            <a:ext cx="2400300" cy="2260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5" name="e"/>
          <p:cNvSpPr/>
          <p:nvPr/>
        </p:nvSpPr>
        <p:spPr>
          <a:xfrm>
            <a:off x="4413250" y="2235200"/>
            <a:ext cx="660400" cy="660400"/>
          </a:xfrm>
          <a:prstGeom prst="ellipse">
            <a:avLst/>
          </a:prstGeom>
          <a:solidFill>
            <a:srgbClr val="C7158D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6" name="t"/>
          <p:cNvSpPr/>
          <p:nvPr/>
        </p:nvSpPr>
        <p:spPr>
          <a:xfrm>
            <a:off x="3644900" y="3022600"/>
            <a:ext cx="2197100" cy="40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C7158D"/>
                </a:solidFill>
                <a:latin typeface="Indosat Regular" pitchFamily="2" charset="77"/>
              </a:rPr>
              <a:t>Safe &amp; auditable</a:t>
            </a:r>
          </a:p>
        </p:txBody>
      </p:sp>
      <p:sp>
        <p:nvSpPr>
          <p:cNvPr id="607" name="t"/>
          <p:cNvSpPr/>
          <p:nvPr/>
        </p:nvSpPr>
        <p:spPr>
          <a:xfrm>
            <a:off x="3670300" y="3454400"/>
            <a:ext cx="2146300" cy="736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1350" b="0" dirty="0">
                <a:solidFill>
                  <a:srgbClr val="2E3047"/>
                </a:solidFill>
                <a:latin typeface="Indosat Regular" pitchFamily="2" charset="77"/>
              </a:rPr>
              <a:t>Every change is gated and reversible</a:t>
            </a:r>
          </a:p>
        </p:txBody>
      </p:sp>
      <p:sp>
        <p:nvSpPr>
          <p:cNvPr id="608" name="s"/>
          <p:cNvSpPr/>
          <p:nvPr/>
        </p:nvSpPr>
        <p:spPr>
          <a:xfrm>
            <a:off x="6248400" y="2006600"/>
            <a:ext cx="2400300" cy="2260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09" name="e"/>
          <p:cNvSpPr/>
          <p:nvPr/>
        </p:nvSpPr>
        <p:spPr>
          <a:xfrm>
            <a:off x="7118350" y="2235200"/>
            <a:ext cx="660400" cy="6604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0" name="t"/>
          <p:cNvSpPr/>
          <p:nvPr/>
        </p:nvSpPr>
        <p:spPr>
          <a:xfrm>
            <a:off x="6350000" y="3022600"/>
            <a:ext cx="2197100" cy="40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EC008C"/>
                </a:solidFill>
                <a:latin typeface="Indosat Regular" pitchFamily="2" charset="77"/>
              </a:rPr>
              <a:t>Low cost</a:t>
            </a:r>
          </a:p>
        </p:txBody>
      </p:sp>
      <p:sp>
        <p:nvSpPr>
          <p:cNvPr id="611" name="t"/>
          <p:cNvSpPr/>
          <p:nvPr/>
        </p:nvSpPr>
        <p:spPr>
          <a:xfrm>
            <a:off x="6375400" y="3454400"/>
            <a:ext cx="2146300" cy="736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1350" b="0" dirty="0">
                <a:solidFill>
                  <a:srgbClr val="2E3047"/>
                </a:solidFill>
                <a:latin typeface="Indosat Regular" pitchFamily="2" charset="77"/>
              </a:rPr>
              <a:t>No dependencies, no per-call fees</a:t>
            </a:r>
          </a:p>
        </p:txBody>
      </p:sp>
      <p:sp>
        <p:nvSpPr>
          <p:cNvPr id="612" name="s"/>
          <p:cNvSpPr/>
          <p:nvPr/>
        </p:nvSpPr>
        <p:spPr>
          <a:xfrm>
            <a:off x="8953500" y="2006600"/>
            <a:ext cx="2400300" cy="2260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3" name="e"/>
          <p:cNvSpPr/>
          <p:nvPr/>
        </p:nvSpPr>
        <p:spPr>
          <a:xfrm>
            <a:off x="9823450" y="2235200"/>
            <a:ext cx="660400" cy="660400"/>
          </a:xfrm>
          <a:prstGeom prst="ellipse">
            <a:avLst/>
          </a:prstGeom>
          <a:solidFill>
            <a:srgbClr val="FFCB09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4" name="t"/>
          <p:cNvSpPr/>
          <p:nvPr/>
        </p:nvSpPr>
        <p:spPr>
          <a:xfrm>
            <a:off x="9055100" y="3022600"/>
            <a:ext cx="2197100" cy="40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6182B"/>
                </a:solidFill>
                <a:latin typeface="Indosat Regular" pitchFamily="2" charset="77"/>
              </a:rPr>
              <a:t>Scalable capability</a:t>
            </a:r>
          </a:p>
        </p:txBody>
      </p:sp>
      <p:sp>
        <p:nvSpPr>
          <p:cNvPr id="615" name="t"/>
          <p:cNvSpPr/>
          <p:nvPr/>
        </p:nvSpPr>
        <p:spPr>
          <a:xfrm>
            <a:off x="9080500" y="3454400"/>
            <a:ext cx="2146300" cy="736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1350" b="0" dirty="0">
                <a:solidFill>
                  <a:srgbClr val="2E3047"/>
                </a:solidFill>
                <a:latin typeface="Indosat Regular" pitchFamily="2" charset="77"/>
              </a:rPr>
              <a:t>A clear path to a tuned Indonesian SLM</a:t>
            </a:r>
          </a:p>
        </p:txBody>
      </p:sp>
      <p:sp>
        <p:nvSpPr>
          <p:cNvPr id="616" name="s"/>
          <p:cNvSpPr/>
          <p:nvPr/>
        </p:nvSpPr>
        <p:spPr>
          <a:xfrm>
            <a:off x="838200" y="4470400"/>
            <a:ext cx="10515600" cy="2006600"/>
          </a:xfrm>
          <a:prstGeom prst="roundRect">
            <a:avLst>
              <a:gd name="adj" fmla="val 4000"/>
            </a:avLst>
          </a:prstGeom>
          <a:solidFill>
            <a:srgbClr val="16182B"/>
          </a:solidFill>
          <a:ln>
            <a:noFill/>
          </a:ln>
        </p:spPr>
        <p:txBody>
          <a:bodyPr/>
          <a:lstStyle/>
          <a:p>
            <a:endParaRPr>
              <a:latin typeface="Indosat Regular" pitchFamily="2" charset="77"/>
            </a:endParaRPr>
          </a:p>
        </p:txBody>
      </p:sp>
      <p:sp>
        <p:nvSpPr>
          <p:cNvPr id="617" name="t"/>
          <p:cNvSpPr/>
          <p:nvPr/>
        </p:nvSpPr>
        <p:spPr>
          <a:xfrm>
            <a:off x="1168400" y="4673600"/>
            <a:ext cx="9652000" cy="381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FFFFFF"/>
                </a:solidFill>
                <a:latin typeface="Indosat Regular" pitchFamily="2" charset="77"/>
              </a:rPr>
              <a:t>The ask — three next steps</a:t>
            </a:r>
          </a:p>
        </p:txBody>
      </p:sp>
      <p:sp>
        <p:nvSpPr>
          <p:cNvPr id="618" name="n"/>
          <p:cNvSpPr/>
          <p:nvPr/>
        </p:nvSpPr>
        <p:spPr>
          <a:xfrm>
            <a:off x="1168400" y="5232400"/>
            <a:ext cx="431800" cy="431800"/>
          </a:xfrm>
          <a:prstGeom prst="ellipse">
            <a:avLst/>
          </a:prstGeom>
          <a:solidFill>
            <a:srgbClr val="24BDA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500" b="1" dirty="0">
                <a:solidFill>
                  <a:srgbClr val="16182B"/>
                </a:solidFill>
                <a:latin typeface="Indosat Regular" pitchFamily="2" charset="77"/>
              </a:rPr>
              <a:t>1</a:t>
            </a:r>
          </a:p>
        </p:txBody>
      </p:sp>
      <p:sp>
        <p:nvSpPr>
          <p:cNvPr id="619" name="t"/>
          <p:cNvSpPr/>
          <p:nvPr/>
        </p:nvSpPr>
        <p:spPr>
          <a:xfrm>
            <a:off x="1727200" y="5207000"/>
            <a:ext cx="2590800" cy="1092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450" b="0" dirty="0">
                <a:solidFill>
                  <a:srgbClr val="FFFFFF"/>
                </a:solidFill>
                <a:latin typeface="Indosat Regular" pitchFamily="2" charset="77"/>
              </a:rPr>
              <a:t>Run the demos this week — one command, no setup</a:t>
            </a:r>
          </a:p>
        </p:txBody>
      </p:sp>
      <p:sp>
        <p:nvSpPr>
          <p:cNvPr id="620" name="n"/>
          <p:cNvSpPr/>
          <p:nvPr/>
        </p:nvSpPr>
        <p:spPr>
          <a:xfrm>
            <a:off x="4648200" y="5232400"/>
            <a:ext cx="431800" cy="431800"/>
          </a:xfrm>
          <a:prstGeom prst="ellipse">
            <a:avLst/>
          </a:prstGeom>
          <a:solidFill>
            <a:srgbClr val="EC008C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500" b="1" dirty="0">
                <a:solidFill>
                  <a:srgbClr val="16182B"/>
                </a:solidFill>
                <a:latin typeface="Indosat Regular" pitchFamily="2" charset="77"/>
              </a:rPr>
              <a:t>2</a:t>
            </a:r>
          </a:p>
        </p:txBody>
      </p:sp>
      <p:sp>
        <p:nvSpPr>
          <p:cNvPr id="621" name="t"/>
          <p:cNvSpPr/>
          <p:nvPr/>
        </p:nvSpPr>
        <p:spPr>
          <a:xfrm>
            <a:off x="5207000" y="5207000"/>
            <a:ext cx="2590800" cy="1092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450" b="0" dirty="0">
                <a:solidFill>
                  <a:srgbClr val="FFFFFF"/>
                </a:solidFill>
                <a:latin typeface="Indosat Regular" pitchFamily="2" charset="77"/>
              </a:rPr>
              <a:t>Pilot against your real Indonesian eval sets</a:t>
            </a:r>
          </a:p>
        </p:txBody>
      </p:sp>
      <p:sp>
        <p:nvSpPr>
          <p:cNvPr id="622" name="n"/>
          <p:cNvSpPr/>
          <p:nvPr/>
        </p:nvSpPr>
        <p:spPr>
          <a:xfrm>
            <a:off x="8128000" y="5232400"/>
            <a:ext cx="431800" cy="431800"/>
          </a:xfrm>
          <a:prstGeom prst="ellipse">
            <a:avLst/>
          </a:prstGeom>
          <a:solidFill>
            <a:srgbClr val="FFCB0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500" b="1" dirty="0">
                <a:solidFill>
                  <a:srgbClr val="16182B"/>
                </a:solidFill>
                <a:latin typeface="Indosat Regular" pitchFamily="2" charset="77"/>
              </a:rPr>
              <a:t>3</a:t>
            </a:r>
          </a:p>
        </p:txBody>
      </p:sp>
      <p:sp>
        <p:nvSpPr>
          <p:cNvPr id="623" name="t"/>
          <p:cNvSpPr/>
          <p:nvPr/>
        </p:nvSpPr>
        <p:spPr>
          <a:xfrm>
            <a:off x="8686800" y="5207000"/>
            <a:ext cx="2616200" cy="1092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450" b="0" dirty="0">
                <a:solidFill>
                  <a:srgbClr val="FFFFFF"/>
                </a:solidFill>
                <a:latin typeface="Indosat Regular" pitchFamily="2" charset="77"/>
              </a:rPr>
              <a:t>Green-light the sovereign SLM track</a:t>
            </a:r>
          </a:p>
        </p:txBody>
      </p:sp>
      <p:pic>
        <p:nvPicPr>
          <p:cNvPr id="624" name="Graphic 624" descr="Sovereign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5150" y="2362200"/>
            <a:ext cx="406400" cy="406400"/>
          </a:xfrm>
          <a:prstGeom prst="rect">
            <a:avLst/>
          </a:prstGeom>
        </p:spPr>
      </p:pic>
      <p:pic>
        <p:nvPicPr>
          <p:cNvPr id="625" name="Graphic 625" descr="Saf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0250" y="2362200"/>
            <a:ext cx="406400" cy="406400"/>
          </a:xfrm>
          <a:prstGeom prst="rect">
            <a:avLst/>
          </a:prstGeom>
        </p:spPr>
      </p:pic>
      <p:pic>
        <p:nvPicPr>
          <p:cNvPr id="626" name="Graphic 626" descr="Low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5350" y="2362200"/>
            <a:ext cx="406400" cy="406400"/>
          </a:xfrm>
          <a:prstGeom prst="rect">
            <a:avLst/>
          </a:prstGeom>
        </p:spPr>
      </p:pic>
      <p:pic>
        <p:nvPicPr>
          <p:cNvPr id="627" name="Graphic 627" descr="Cap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0450" y="2362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92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877442248]">
  <a:themeElements>
    <a:clrScheme name="Office">
      <a:dk1>
        <a:srgbClr val="16182B"/>
      </a:dk1>
      <a:lt1>
        <a:srgbClr val="FFFFFF"/>
      </a:lt1>
      <a:dk2>
        <a:srgbClr val="2E3047"/>
      </a:dk2>
      <a:lt2>
        <a:srgbClr val="F3F3F8"/>
      </a:lt2>
      <a:accent1>
        <a:srgbClr val="EC008C"/>
      </a:accent1>
      <a:accent2>
        <a:srgbClr val="24BDAD"/>
      </a:accent2>
      <a:accent3>
        <a:srgbClr val="FFCB09"/>
      </a:accent3>
      <a:accent4>
        <a:srgbClr val="C7158D"/>
      </a:accent4>
      <a:accent5>
        <a:srgbClr val="EE1C24"/>
      </a:accent5>
      <a:accent6>
        <a:srgbClr val="24BDAD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7D1646-B969-1241-80FE-507A9F8896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8ff5a09-a679-47db-a0a4-bec9d1a2c55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1258</Words>
  <Application>Microsoft Macintosh PowerPoint</Application>
  <PresentationFormat>Widescreen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Indosat Bold Bold</vt:lpstr>
      <vt:lpstr>Indosat Regular</vt:lpstr>
      <vt:lpstr>Montserrat</vt:lpstr>
      <vt:lpstr>Segoe UI</vt:lpstr>
      <vt:lpstr>Office Theme [1782877442248]</vt:lpstr>
      <vt:lpstr>Constrained Gödel-Agent Prototype</vt:lpstr>
      <vt:lpstr>Executive summary</vt:lpstr>
      <vt:lpstr>The problem we're solving</vt:lpstr>
      <vt:lpstr>Our solution, in plain terms</vt:lpstr>
      <vt:lpstr>How it works — a self-improvement loop</vt:lpstr>
      <vt:lpstr>Built-in safety &amp; governance</vt:lpstr>
      <vt:lpstr>Proven today: two working use cases</vt:lpstr>
      <vt:lpstr>No foreign model required — three modes</vt:lpstr>
      <vt:lpstr>Under the hood: four pluggable parts</vt:lpstr>
      <vt:lpstr>The strategic prize: a sovereign Indonesian SLM</vt:lpstr>
      <vt:lpstr>Roadmap to production</vt:lpstr>
      <vt:lpstr>Team &amp; infrastructure</vt:lpstr>
      <vt:lpstr>Indicative investment</vt:lpstr>
      <vt:lpstr>Business value &amp; the 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Raditio Ghifiardi</dc:creator>
  <cp:lastModifiedBy>Raditio Ghifiardi</cp:lastModifiedBy>
  <cp:revision>8</cp:revision>
  <dcterms:created xsi:type="dcterms:W3CDTF">2026-07-01T03:39:59Z</dcterms:created>
  <dcterms:modified xsi:type="dcterms:W3CDTF">2026-07-01T07:57:12Z</dcterms:modified>
</cp:coreProperties>
</file>