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400"/>
              </a:spcAft>
            </a:pPr>
            <a:r>
              <a:rPr sz="1300" b="1">
                <a:solidFill>
                  <a:srgbClr val="B45309"/>
                </a:solidFill>
                <a:latin typeface="Consolas"/>
              </a:rPr>
              <a:t>TANTULAR OFFICE  ·  FACILITATOR REFERENCE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4400" b="1">
                <a:solidFill>
                  <a:srgbClr val="1A1A1E"/>
                </a:solidFill>
                <a:latin typeface="Calibri"/>
              </a:rPr>
              <a:t>Why “Buat Deck” Seems to Loop Forever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6B6B76"/>
                </a:solidFill>
                <a:latin typeface="Calibri"/>
              </a:rPr>
              <a:t>Local model performance, RAM limits, and what to promise participants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45309"/>
                </a:solidFill>
                <a:latin typeface="Consolas"/>
              </a:rPr>
              <a:t>THE REPORT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A1A1E"/>
                </a:solidFill>
                <a:latin typeface="Calibri"/>
              </a:rPr>
              <a:t>What participants tell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9050"/>
          </a:xfrm>
          <a:prstGeom prst="rect">
            <a:avLst/>
          </a:prstGeom>
          <a:solidFill>
            <a:srgbClr val="E0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They click Buat Deck — nothing happens for minutes.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They click again. And again.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The add-in appears to loop endlessly and never produces a deck.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Eventually: “Permintaan model lokal terlalu lama.”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B45309"/>
                </a:solidFill>
                <a:latin typeface="Calibri"/>
              </a:rPr>
              <a:t>There is no loop in the code.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45309"/>
                </a:solidFill>
                <a:latin typeface="Consolas"/>
              </a:rPr>
              <a:t>THE MECHANISM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A1A1E"/>
                </a:solidFill>
                <a:latin typeface="Calibri"/>
              </a:rPr>
              <a:t>What is actually happening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9050"/>
          </a:xfrm>
          <a:prstGeom prst="rect">
            <a:avLst/>
          </a:prstGeom>
          <a:solidFill>
            <a:srgbClr val="E0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Each click sends ONE request with a 5-minute budget (timeoutMs: 300_000).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The 8B model can’t finish inside that budget on an under-provisioned laptop.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The request aborts → “Permintaan model lokal terlalu lama.”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It falls back to the smaller chat model — weaker result, or fails too.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Every extra click while waiting queues another request behind the stuck one.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Ollama serves them serially, so each retry makes the machine slower.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B45309"/>
                </a:solidFill>
                <a:latin typeface="Calibri"/>
              </a:rPr>
              <a:t>That queue-behind-a-stuck-request is what reads as “looping endlessly”.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45309"/>
                </a:solidFill>
                <a:latin typeface="Consolas"/>
              </a:rPr>
              <a:t>ROOT CAUSE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A1A1E"/>
                </a:solidFill>
                <a:latin typeface="Calibri"/>
              </a:rPr>
              <a:t>It’s RAM — not the add-in, not Ollama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9050"/>
          </a:xfrm>
          <a:prstGeom prst="rect">
            <a:avLst/>
          </a:prstGeom>
          <a:solidFill>
            <a:srgbClr val="E0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4577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The 8B model is roughly 5 GB of weights.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If it doesn’t fit in physical memory, the OS swaps it to disk.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Generation drops from tens of tokens/sec to a fraction of one.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Check: Windows → Task Manager → Performance → Memory.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Check: macOS → Activity Monitor → Memory (or sysctl -n hw.memsize).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4434840"/>
          <a:ext cx="10545774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7909331"/>
              </a:tblGrid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A1A1E"/>
                          </a:solidFill>
                          <a:latin typeface="Calibri"/>
                        </a:rPr>
                        <a:t>Installed RAM</a:t>
                      </a:r>
                    </a:p>
                  </a:txBody>
                  <a:tcPr marL="109728" marT="36576" marB="36576">
                    <a:solidFill>
                      <a:srgbClr val="F1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A1A1E"/>
                          </a:solidFill>
                          <a:latin typeface="Calibri"/>
                        </a:rPr>
                        <a:t>8B model verdict</a:t>
                      </a:r>
                    </a:p>
                  </a:txBody>
                  <a:tcPr marL="109728" marT="36576" marB="36576">
                    <a:solidFill>
                      <a:srgbClr val="F1EEE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16 GB or more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Full 8B experience, works as designed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12 – 16 GB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Usable but slow; close other apps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Under 12 GB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Painful — use the lite model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Under 8 GB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Effectively unusable with 8B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45309"/>
                </a:solidFill>
                <a:latin typeface="Consolas"/>
              </a:rPr>
              <a:t>IMMEDIATE FIX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A1A1E"/>
                </a:solidFill>
                <a:latin typeface="Calibri"/>
              </a:rPr>
              <a:t>Two minutes on the affected machine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9050"/>
          </a:xfrm>
          <a:prstGeom prst="rect">
            <a:avLst/>
          </a:prstGeom>
          <a:solidFill>
            <a:srgbClr val="E0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1.  Quit Ollama from the system tray, then start it again — clears the stuck queue.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2.  In a terminal / PowerShell:  ollama pull ghifidanukusumo/tantular:lite   (~2.5 GB)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3.  Pane → Pengaturan model lokal → Model Studio = ghifidanukusumo/tantular:lite → Simpan → Tes.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4.  Click Buat Deck ONCE and wait.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21208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B45309"/>
                </a:solidFill>
                <a:latin typeface="Calibri"/>
              </a:rPr>
              <a:t>Do not re-click while the spinner runs — that is what builds the queue.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45309"/>
                </a:solidFill>
                <a:latin typeface="Consolas"/>
              </a:rPr>
              <a:t>WORKSHOP PACKAGE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A1A1E"/>
                </a:solidFill>
                <a:latin typeface="Calibri"/>
              </a:rPr>
              <a:t>Installers pull the published model by 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9050"/>
          </a:xfrm>
          <a:prstGeom prst="rect">
            <a:avLst/>
          </a:prstGeom>
          <a:solidFill>
            <a:srgbClr val="E0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4577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Model published at ollama.com/ghifidanukusumo/Tantular — installers just ollama pull.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RAM detected automatically (sysctl / Win32_ComputerSystem).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700" b="0">
                <a:solidFill>
                  <a:srgbClr val="1A1A1E"/>
                </a:solidFill>
                <a:latin typeface="Calibri"/>
              </a:rPr>
              <a:t>• Below 12 GB they pull the lite tag; offline venues fall back to local Modelfile build.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3931920"/>
          <a:ext cx="10545775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A1A1E"/>
                          </a:solidFill>
                          <a:latin typeface="Calibri"/>
                        </a:rPr>
                        <a:t>Machine</a:t>
                      </a:r>
                    </a:p>
                  </a:txBody>
                  <a:tcPr marL="109728" marT="36576" marB="36576">
                    <a:solidFill>
                      <a:srgbClr val="F1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A1A1E"/>
                          </a:solidFill>
                          <a:latin typeface="Calibri"/>
                        </a:rPr>
                        <a:t>Tag pulled</a:t>
                      </a:r>
                    </a:p>
                  </a:txBody>
                  <a:tcPr marL="109728" marT="36576" marB="36576">
                    <a:solidFill>
                      <a:srgbClr val="F1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A1A1E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109728" marT="36576" marB="36576">
                    <a:solidFill>
                      <a:srgbClr val="F1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A1A1E"/>
                          </a:solidFill>
                          <a:latin typeface="Calibri"/>
                        </a:rPr>
                        <a:t>Model Studio field</a:t>
                      </a:r>
                    </a:p>
                  </a:txBody>
                  <a:tcPr marL="109728" marT="36576" marB="36576">
                    <a:solidFill>
                      <a:srgbClr val="F1EEE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≥ 12 GB RAM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ghifidanukusumo/tantular:latest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qwen3:8b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tantular-office:0.3-8b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&lt; 12 GB RAM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ghifidanukusumo/tantular:lite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qwen3:4b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tantular-office:lite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21208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76"/>
                </a:solidFill>
                <a:latin typeface="Calibri"/>
              </a:rPr>
              <a:t>The pulled model is aliased to the local name the add-in expects, so defaults keep working. On the lite path the installer prints, in bold, the tag to enter in Model Studio. The support page carries a troubleshooting entry for this exact symptom.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45309"/>
                </a:solidFill>
                <a:latin typeface="Consolas"/>
              </a:rPr>
              <a:t>DIAGNOSTICS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A1A1E"/>
                </a:solidFill>
                <a:latin typeface="Calibri"/>
              </a:rPr>
              <a:t>Timeout budgets by task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9050"/>
          </a:xfrm>
          <a:prstGeom prst="rect">
            <a:avLst/>
          </a:prstGeom>
          <a:solidFill>
            <a:srgbClr val="E0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286000"/>
          <a:ext cx="10545774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1757629"/>
                <a:gridCol w="3515258"/>
              </a:tblGrid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A1A1E"/>
                          </a:solidFill>
                          <a:latin typeface="Calibri"/>
                        </a:rPr>
                        <a:t>Call</a:t>
                      </a:r>
                    </a:p>
                  </a:txBody>
                  <a:tcPr marL="109728" marT="36576" marB="36576">
                    <a:solidFill>
                      <a:srgbClr val="F1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A1A1E"/>
                          </a:solidFill>
                          <a:latin typeface="Calibri"/>
                        </a:rPr>
                        <a:t>Budget</a:t>
                      </a:r>
                    </a:p>
                  </a:txBody>
                  <a:tcPr marL="109728" marT="36576" marB="36576">
                    <a:solidFill>
                      <a:srgbClr val="F1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A1A1E"/>
                          </a:solidFill>
                          <a:latin typeface="Calibri"/>
                        </a:rPr>
                        <a:t>Model used</a:t>
                      </a:r>
                    </a:p>
                  </a:txBody>
                  <a:tcPr marL="109728" marT="36576" marB="36576">
                    <a:solidFill>
                      <a:srgbClr val="F1EEE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Studio tasks (deck, document, workbook)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300 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Model Studio (8B / lite)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General chat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90 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chat model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Vision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180 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vision model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“Tes model terpilih” connection check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180 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selected model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93776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6B76"/>
                </a:solidFill>
                <a:latin typeface="Calibri"/>
              </a:rPr>
              <a:t>The first call after startup includes cold-start model load — it is legitimately the slowest of the session. Wait it out before concluding anything is broken.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45309"/>
                </a:solidFill>
                <a:latin typeface="Consolas"/>
              </a:rPr>
              <a:t>EXPECTATIONS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A1A1E"/>
                </a:solidFill>
                <a:latin typeface="Calibri"/>
              </a:rPr>
              <a:t>8B vs lite — what people actually 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9050"/>
          </a:xfrm>
          <a:prstGeom prst="rect">
            <a:avLst/>
          </a:prstGeom>
          <a:solidFill>
            <a:srgbClr val="E0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194560"/>
          <a:ext cx="10545774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8"/>
              </a:tblGrid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</a:p>
                  </a:txBody>
                  <a:tcPr marL="109728" marT="36576" marB="36576">
                    <a:solidFill>
                      <a:srgbClr val="F1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A1A1E"/>
                          </a:solidFill>
                          <a:latin typeface="Calibri"/>
                        </a:rPr>
                        <a:t>tantular-office (8B)</a:t>
                      </a:r>
                    </a:p>
                  </a:txBody>
                  <a:tcPr marL="109728" marT="36576" marB="36576">
                    <a:solidFill>
                      <a:srgbClr val="F1EE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A1A1E"/>
                          </a:solidFill>
                          <a:latin typeface="Calibri"/>
                        </a:rPr>
                        <a:t>tantular-office:lite (4B)</a:t>
                      </a:r>
                    </a:p>
                  </a:txBody>
                  <a:tcPr marL="109728" marT="36576" marB="36576">
                    <a:solidFill>
                      <a:srgbClr val="F1EEE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Weights on disk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~5 GB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~2.5 GB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Minimum comfortable RAM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16 GB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8 GB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Deck structure and section flow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Best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Good — proper structured decks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Nuance, long-document reasoning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Stronger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A step below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Risk of 5-minute timeouts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High under 12 GB RAM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33338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39496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E"/>
                </a:solidFill>
                <a:latin typeface="Calibri"/>
              </a:rPr>
              <a:t>Deck quality on 4B is a step below 8B but still produces properly structured decks — vastly better than timeouts and fallbacks.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45309"/>
                </a:solidFill>
                <a:latin typeface="Consolas"/>
              </a:rPr>
              <a:t>FACILITATOR CHECKLIST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A1A1E"/>
                </a:solidFill>
                <a:latin typeface="Calibri"/>
              </a:rPr>
              <a:t>Two lines to carry into the room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783080"/>
            <a:ext cx="10545775" cy="19050"/>
          </a:xfrm>
          <a:prstGeom prst="rect">
            <a:avLst/>
          </a:prstGeom>
          <a:solidFill>
            <a:srgbClr val="E0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971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On the workshop invitation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E"/>
                </a:solidFill>
                <a:latin typeface="Calibri"/>
              </a:rPr>
              <a:t>16 GB RAM → full 8B experience.  8 GB RAM → lite model, still works. Below 12 GB the installer automatically switches to tantular-office:lite.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99971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B45309"/>
                </a:solidFill>
                <a:latin typeface="Calibri"/>
              </a:rPr>
              <a:t>Say out loud before the first exercise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E"/>
                </a:solidFill>
                <a:latin typeface="Calibri"/>
              </a:rPr>
              <a:t>Click Buat Deck once and wait for the spinner. Clicking again does not speed it up — it queues another request and slows the machine down.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